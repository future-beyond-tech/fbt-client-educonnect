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 30 to 45 seconds]
Good morning / good afternoon, and thank you for making time today.
My name is [Your Name], and I represent FBT — Future Beyond Technology. Over the next fifteen minutes, I'd like to walk you through EduConnect — a platform we've built specifically for schools like yours.
Before I begin, a small context: we didn't build EduConnect as a generic product that we then tried to sell to schools. We built it by sitting down with principals, teachers, and parents, listening to the friction in their daily lives, and then designing a system that removes that friction.
What you'll see today is the result — a platform that brings attendance, homework, notices, and communication into one secure, simple place, with dedicated experiences for three different people: your admin team, your teachers, and your parents.
Let's begin with the problem we set out to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 about 2 minutes]
Let's be honest about where school communication stands today.
In most schools — including some of the best ones — communication happens across five or six different channels. A parent-teacher WhatsApp group. A paper circular that goes home in the child's bag. A phone call from the class teacher. A notice on the notice board. A handwritten attendance register. A verbal reminder about homework.
Every one of those channels has a problem.
WhatsApp groups feel convenient, but important messages get buried under good-morning forwards, sticker chains, and off-topic discussions. A serious notice about a fee deadline or a half-day announcement can get lost in thirty unrelated messages.
Paper circulars assume the child will hand it to the parent. In reality, notices end up crumpled at the bottom of schoolbags, or simply forgotten.
Attendance on paper means teachers mark a register by hand, then copy that data into a monthly report, then share it with admin. That's three steps, three chances for errors, and no audit trail.
And homework — one of the most important daily touchpoints — is often communicated verbally or on a whiteboard. Parents have no record they can look at later.
So what happens? Teachers end up overworked, fielding phone calls and messages at all hours. Parents feel disconnected from what's happening in their child's classroom. And you, the admin team, have no single, reliable view of your own school.
This is the problem we built EduConnect to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EDUCONNECT — 90 seconds]
This is EduConnect.
It's not a WhatsApp replacement. It's not a generic enterprise tool. It's a single, purpose-built platform designed around the four things your school does every day — take attendance, assign homework, send notices, and stay in touch with parents.
What makes it different from anything else you may have seen is this: it's built around three distinct roles — Admin, Teacher, and Parent — and each role gets an experience purpose-built for how they actually work.
Your admin team logs in and sees what they need — notices, students, classes, staff. They don't see a cluttered dashboard full of features they'll never use.
Your teachers log in to exactly what they need that day — attendance to mark, homework to create, their class roster. Nothing else in the way.
And your parents? They log in with their phone number and a simple four-to-six digit PIN — no forgotten passwords, no complicated setup — and they see their child's attendance, homework, and the school's notices. That's it.
Same system. Same data. Three different front doors, designed for three different people.
Let's walk through what each role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WORKS — 90 seconds]
Before we go deep into each role, let me show you the big picture.
Everything in EduConnect flows through three roles — and the flow is designed to be natural.
On the left, your Admin is the control center. The admin enrolls students, assigns teachers to classes and subjects, and publishes school-wide notices.
In the middle, your Teachers do the daily work. They mark attendance, they assign homework — with file attachments if they want — and when homework is important enough to need approval, they submit it to the admin.
On the right, your Parents stay connected. They view their child's attendance, read homework with all the attached documents, see school notices relevant to their child's class, and when their child needs leave, they apply for it right in the app.
Notice the arrows. This isn't three separate systems. This is one platform where information flows between roles. When a teacher marks a student absent, the parent sees it. When the admin publishes a notice, every relevant parent gets notified. When a parent applies for leave, the admin sees it in their queue.
And critically — every action is timestamped, role-permissioned, and auditable. There's no more "I didn't get the message." The record is there, and the right people can always see it.
Now let's look at what each role actually experiences.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ADMIN — 2 minutes]
Let's start with the admin — because the admin is where every school's day begins.
The admin experience is designed for principals, office staff, and academic coordinators. The people who need a top-down view.
Here are the six things an admin does in EduConnect.
One — publish notices. Whether it's a half-day announcement, a fee reminder, a parent-teacher meeting notice, or an exam schedule, the admin writes it once, picks the target audience — whole school, a specific class, or even a single section — attaches any PDFs, and publishes. Every parent in that audience gets it.
Two — enroll students. Add a student's name, their roll number, their class, and optionally their date of birth. Then link their parent with just a phone number. If a student leaves, one click deactivates them.
Three — manage teachers. Onboard a new teacher, assign them to a class and a subject, promote one of them to be the class teacher, or reassign when your staffing changes.
Four — manage your class and subject catalog. You define the academic year, the sections, and the list of subjects that your teachers can pick from when they assign homework. This keeps things consistent across your school.
Five — approve homework. This is important. When teachers submit homework for approval, it goes into the admin's queue. You review it, you approve it, or you send it back with edits. This gives you a quality check before anything reaches parents.
Six — override attendance. Occasionally a student is marked absent by mistake. The admin has the authority to correct the record — and the correction itself is audited.
This is school management, digitized — without the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TEACHER — 2 minutes]
Now let me show you the teacher experience — and this is where, in my experience, EduConnect earns the most appreciation.
Because for a teacher, the two activities that eat up the most time every single day are attendance and homework. So we focused hard on these.
First — attendance. A teacher logs in, taps their class, and sees the full student list for that day. They mark the students who are absent or late; everyone else is present by default. One tap, one student. Submit. Done. It takes under a minute for a class of forty students. And once it's submitted, the record is immutable — so if anyone ever asks "was my child marked absent on the 14th?", there's a clear, timestamped answer.
They can also pull up any past month or year — useful when a parent asks about attendance over a term, or when you're generating reports.
Second — homework. In the old way, a teacher might scribble homework on the board, or tell the students verbally, or text it into a WhatsApp group. In EduConnect, the teacher fills a simple form: title, description, subject, due date. If there's a worksheet, a reading PDF, or a reference image, they attach it — up to ten megabytes.
They can save it as a draft, come back to edit, and when they're ready, they submit it for admin approval. Once the admin approves, that homework instantly appears in the parent's view — with the attachment and the due date.
And beyond attendance and homework, teachers also see their classes, their students, and their own profile with assignments. Nothing else clutters their view.
The goal for teachers is simple: fewer steps, fewer apps, less time on administrative work — so they can spend more time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PARENT — 2 minutes]
Now here's where we made a deliberate design choice that separates EduConnect from most school software.
We had a question early on: how should a parent log in?
Most school apps use email and password. But email and password assume the parent is tech-comfortable, remembers their password, and is happy to reset it when they forget. In reality, that's not most parents. Most parents are juggling work, other children, and household life. They don't want another password to manage.
So we designed parent login around two things every parent already has: their phone number, and a short PIN — four to six digits. That's it. No email. No password. No app install.
If they forget the PIN, we send a reset link to their email. But the vast majority never will — a four-digit number they chose themselves is as easy as unlocking their phone.
Once they're in, they see three things.
One — attendance. Their child's full attendance history. Every absence, every late mark, with dates. And right on the same screen, a simple form to apply for leave — pick the child, pick the start and end date, write the reason, submit. They can see the status: pending, approved, or rejected.
Two — homework. Today's homework from every teacher. Click any assignment and they see the full description, the due date, and any attached files they can download.
Three — notices. A clean feed of every notice the school has published that's relevant to their child. No old notices that expired last month. No notices about other classes.
That's the parent experience. Quiet, focused, and exactly enough — never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FEATURES — 2 minutes]
We've covered the three roles. Now let me quickly highlight six features that often become the reason a school chooses EduConnect after a trial.
One — file attachments. Teachers attach PDFs, worksheets, and reference images to homework. Admins attach documents to notices — fee structures, event brochures, circulars. Up to ten megabytes per file, stored securely in cloud storage.
Two — it works offline. EduConnect is what's called a Progressive Web App. Your parents don't need to download anything from the Play Store or App Store — they just add it to their home screen, and it opens like any other app on their phone. Even when connectivity is poor, key pages still load from the phone's cache.
Three — in-app notifications. Every user has a notification bell at the top of their screen. When a new notice is published or a new homework is assigned, the bell shows an unread count, and one tap takes them straight to the relevant page.
Four — leave application workflow. Parents submit leave requests right from their dashboard — pick the child, the date range, write a reason. The admin sees all pending requests in one list and can approve or reject each one. Every decision is recorded.
Five — multi-school ready. If your institution has multiple branches, or if you're part of a chain, EduConnect handles that natively. One deployment, many schools, each fully separated — no data ever crosses between schools.
Six — role-based access. This is a technical detail that matters enormously for privacy. Every single screen, every API call, is permission-checked. A parent physically cannot see another parent's child — even if they tried. A teacher cannot see a class they haven't been assigned to. The system enforces this at the data layer, not just the UI.
These six features aren't optional add-ons. They come built in, on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ON TRUST — 90 seconds]
I want to pause on a topic that often gets glossed over in sales presentations — but which should matter deeply to you.
Security.
When a school signs up for a digital platform, you are trusting that company with extremely sensitive information. The names and ages of your students. Their attendance records. Their parents' phone numbers. Homework they've completed. Notices about discipline.
This data has to be protected, not as an afterthought, but by design.
Here's how we do that.
One — passwords are stored using Bcrypt. This is the industry-standard password hashing algorithm, used by banks and tech companies like GitHub. Even we, as the developers, cannot see your users' passwords.
Two — authentication uses JWT tokens with a refresh-and-rotate pattern. Access tokens expire quickly; refresh happens silently in the background; and if a user is inactive, they're automatically logged out.
Three — every single endpoint has rate limiting. A maximum of sixty requests per minute per user. That stops brute-force attacks before they start.
Four — multi-tenant data isolation. This is the big one. Every single record in our database — every student, every attendance record, every homework — is tied to a school ID. The system enforces at the data layer that users from one school physically cannot query another school's data. Ever.
Five — structured audit logging. Every meaningful action is logged with a correlation ID. If you ever need to trace "who marked this student absent and when," it's right there. And sensitive fields — like passwords and PINs — are automatically redacted from logs.
Six — error monitoring through Sentry. If anything goes wrong — a crash, an anomaly, even a slow query — we see it in real time. Fixes happen before most users even notice.
This isn't marketing language. These are the technical foundations of EduConnect, and they're live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EDUCONNECT — 90 seconds]
Let me make the case for EduConnect specifically — because I know you've probably seen other school management apps in the market.
On the left is what most school apps look like. They were built as generic customer relationship management tools — then someone added a "schools" module on top. Everyone gets a single login flow with email and password. Features feel bolted on. Parents are expected to download apps from the Play Store. When you have a support issue, you file a ticket and wait days for a response. And fundamentally, you end up adapting your school's processes to match the software — instead of the other way around.
On the right is EduConnect.
Parents log in with their phone number and a simple PIN — not an email and a password.
It was built from the ground up for schools — every feature in this platform exists because a school asked for it.
Attendance, homework, notices — they're not separate apps. They're one continuous workflow in one system.
It's installable as a progressive web app — which means your parents never need to visit an app store.
When you need support, you get direct access to the team that built it — not a ticket queue.
And here's the most important difference: the software adapts to your school. If your academic year runs differently, if your grading system is unique, if your parents need specific features — we build them in. Because FBT is not a huge corporation with a roadmap set in stone. We are a focused team, and your feedback shapes the product.
That is the promise of EduConnect.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[ROLLOUT — 90 seconds]
One question I always get at this point is: "Okay, this looks good — but how long until it's live in our school?"
The answer is five days. Here's what that looks like.
Day One. We set up your school profile — the name, the logo, the current academic year, your sections, and your subject catalog. We provision the admin account and walk your admin through the dashboard.
Day Two. Student enrollment. If you have a list ready, we help you bring students in bulk. If you prefer one-by-one for accuracy, the admin can do that. Parent phone numbers get linked at this stage.
Day Three. Teachers come online. Each teacher logs in with the credentials we've provisioned. We assign their classes and subjects. They create their first homework as a test run — and you see the approval workflow in action.
Day Four. Parents come online. They receive their login details through whatever channel you prefer — SMS, printed slip, or email. Your first real notice goes out, and parents start logging in. We share a short walkthrough video you can forward to them.
Day Five. Full usage. Attendance is being marked, homework is being published, notices are reaching parents. We do a handover touch-base with your admin team, answer any open questions, and transition to ongoing support.
And here's our promise: we handle the technical setup. Your team handles what they already know best — running your school. We don't disappear after launch. We stay engaged, we monitor how things are going, and we iterate based on what you tell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 30 to 45 seconds]
That brings us to the end of our walkthrough.
To summarize in one line: EduConnect is one platform, three roles, every student connected.
We'd genuinely love to answer any questions you have right now — and if you'd prefer, we can walk through any part of the system hands-on, live on screen. I'll take any question big or small.
If you're interested in going further, here are the three ways we typically move forward:
One — a live demo, where we walk through the admin, teacher, and parent views with real data your school can recognize.
Two — a pilot proposal. We set up a guided two-week trial with one class. Your teachers, your parents, our support — and at the end you decide.
Three — custom scoping. If there are specific things your school needs that we haven't covered, we listen, we scope them, and we build what fits you.
Thank you for your time and your attention today. The floor is yours — what questions do you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D"/>
        </a:solidFill>
      </p:bgPr>
    </p:bg>
    <p:spTree>
      <p:nvGrpSpPr>
        <p:cNvPr id="1" name=""/>
        <p:cNvGrpSpPr/>
        <p:nvPr/>
      </p:nvGrpSpPr>
      <p:grpSpPr>
        <a:xfrm>
          <a:off x="0" y="0"/>
          <a:ext cx="0" cy="0"/>
          <a:chOff x="0" y="0"/>
          <a:chExt cx="0" cy="0"/>
        </a:xfrm>
      </p:grpSpPr>
      <p:sp>
        <p:nvSpPr>
          <p:cNvPr id="2" name="Shape 0"/>
          <p:cNvSpPr/>
          <p:nvPr/>
        </p:nvSpPr>
        <p:spPr>
          <a:xfrm>
            <a:off x="9601200" y="-2286000"/>
            <a:ext cx="5486400" cy="5486400"/>
          </a:xfrm>
          <a:prstGeom prst="ellipse">
            <a:avLst/>
          </a:prstGeom>
          <a:solidFill>
            <a:srgbClr val="1E3A8A">
              <a:alpha val="55000"/>
            </a:srgbClr>
          </a:solidFill>
          <a:ln/>
        </p:spPr>
      </p:sp>
      <p:sp>
        <p:nvSpPr>
          <p:cNvPr id="3" name="Shape 1"/>
          <p:cNvSpPr/>
          <p:nvPr/>
        </p:nvSpPr>
        <p:spPr>
          <a:xfrm>
            <a:off x="10058400" y="4572000"/>
            <a:ext cx="3200400" cy="3200400"/>
          </a:xfrm>
          <a:prstGeom prst="ellipse">
            <a:avLst/>
          </a:prstGeom>
          <a:solidFill>
            <a:srgbClr val="0EA5E9">
              <a:alpha val="35000"/>
            </a:srgbClr>
          </a:solidFill>
          <a:ln/>
        </p:spPr>
      </p:sp>
      <p:sp>
        <p:nvSpPr>
          <p:cNvPr id="4" name="Shape 2"/>
          <p:cNvSpPr/>
          <p:nvPr/>
        </p:nvSpPr>
        <p:spPr>
          <a:xfrm>
            <a:off x="640080" y="6309360"/>
            <a:ext cx="228600" cy="228600"/>
          </a:xfrm>
          <a:prstGeom prst="ellipse">
            <a:avLst/>
          </a:prstGeom>
          <a:solidFill>
            <a:srgbClr val="F59E0B"/>
          </a:solidFill>
          <a:ln/>
        </p:spPr>
      </p:sp>
      <p:sp>
        <p:nvSpPr>
          <p:cNvPr id="5" name="Text 3"/>
          <p:cNvSpPr/>
          <p:nvPr/>
        </p:nvSpPr>
        <p:spPr>
          <a:xfrm>
            <a:off x="640080" y="914400"/>
            <a:ext cx="7315200" cy="320040"/>
          </a:xfrm>
          <a:prstGeom prst="rect">
            <a:avLst/>
          </a:prstGeom>
          <a:noFill/>
          <a:ln/>
        </p:spPr>
        <p:txBody>
          <a:bodyPr wrap="square" lIns="0" tIns="0" rIns="0" bIns="0" rtlCol="0" anchor="ctr"/>
          <a:lstStyle/>
          <a:p>
            <a:pPr indent="0" marL="0">
              <a:buNone/>
            </a:pPr>
            <a:r>
              <a:rPr lang="en-US" sz="1200" b="1" spc="600" kern="0" dirty="0">
                <a:solidFill>
                  <a:srgbClr val="F59E0B"/>
                </a:solidFill>
                <a:latin typeface="Calibri" pitchFamily="34" charset="0"/>
                <a:ea typeface="Calibri" pitchFamily="34" charset="-122"/>
                <a:cs typeface="Calibri" pitchFamily="34" charset="-120"/>
              </a:rPr>
              <a:t>FBT — FUTURE BEYOND TECHNOLOGY</a:t>
            </a:r>
            <a:endParaRPr lang="en-US" sz="1200" dirty="0"/>
          </a:p>
        </p:txBody>
      </p:sp>
      <p:sp>
        <p:nvSpPr>
          <p:cNvPr id="6" name="Text 4"/>
          <p:cNvSpPr/>
          <p:nvPr/>
        </p:nvSpPr>
        <p:spPr>
          <a:xfrm>
            <a:off x="640080" y="1463040"/>
            <a:ext cx="9144000" cy="1280160"/>
          </a:xfrm>
          <a:prstGeom prst="rect">
            <a:avLst/>
          </a:prstGeom>
          <a:noFill/>
          <a:ln/>
        </p:spPr>
        <p:txBody>
          <a:bodyPr wrap="square" lIns="0" tIns="0" rIns="0" bIns="0" rtlCol="0" anchor="ctr"/>
          <a:lstStyle/>
          <a:p>
            <a:pPr indent="0" marL="0">
              <a:buNone/>
            </a:pPr>
            <a:r>
              <a:rPr lang="en-US" sz="6400" b="1" dirty="0">
                <a:solidFill>
                  <a:srgbClr val="FFFFFF"/>
                </a:solidFill>
                <a:latin typeface="Georgia" pitchFamily="34" charset="0"/>
                <a:ea typeface="Georgia" pitchFamily="34" charset="-122"/>
                <a:cs typeface="Georgia" pitchFamily="34" charset="-120"/>
              </a:rPr>
              <a:t>EduConnect</a:t>
            </a:r>
            <a:endParaRPr lang="en-US" sz="6400" dirty="0"/>
          </a:p>
        </p:txBody>
      </p:sp>
      <p:sp>
        <p:nvSpPr>
          <p:cNvPr id="7" name="Text 5"/>
          <p:cNvSpPr/>
          <p:nvPr/>
        </p:nvSpPr>
        <p:spPr>
          <a:xfrm>
            <a:off x="640080" y="2880360"/>
            <a:ext cx="10058400" cy="640080"/>
          </a:xfrm>
          <a:prstGeom prst="rect">
            <a:avLst/>
          </a:prstGeom>
          <a:noFill/>
          <a:ln/>
        </p:spPr>
        <p:txBody>
          <a:bodyPr wrap="square" lIns="0" tIns="0" rIns="0" bIns="0" rtlCol="0" anchor="ctr"/>
          <a:lstStyle/>
          <a:p>
            <a:pPr indent="0" marL="0">
              <a:buNone/>
            </a:pPr>
            <a:r>
              <a:rPr lang="en-US" sz="2400" i="1" dirty="0">
                <a:solidFill>
                  <a:srgbClr val="CADCFC"/>
                </a:solidFill>
                <a:latin typeface="Georgia" pitchFamily="34" charset="0"/>
                <a:ea typeface="Georgia" pitchFamily="34" charset="-122"/>
                <a:cs typeface="Georgia" pitchFamily="34" charset="-120"/>
              </a:rPr>
              <a:t>One Platform. Three Roles. Every Student Connected.</a:t>
            </a:r>
            <a:endParaRPr lang="en-US" sz="2400" dirty="0"/>
          </a:p>
        </p:txBody>
      </p:sp>
      <p:sp>
        <p:nvSpPr>
          <p:cNvPr id="8" name="Shape 6"/>
          <p:cNvSpPr/>
          <p:nvPr/>
        </p:nvSpPr>
        <p:spPr>
          <a:xfrm>
            <a:off x="640080" y="3749040"/>
            <a:ext cx="548640" cy="45720"/>
          </a:xfrm>
          <a:prstGeom prst="rect">
            <a:avLst/>
          </a:prstGeom>
          <a:solidFill>
            <a:srgbClr val="F59E0B"/>
          </a:solidFill>
          <a:ln/>
        </p:spPr>
      </p:sp>
      <p:sp>
        <p:nvSpPr>
          <p:cNvPr id="9" name="Text 7"/>
          <p:cNvSpPr/>
          <p:nvPr/>
        </p:nvSpPr>
        <p:spPr>
          <a:xfrm>
            <a:off x="640080" y="3931920"/>
            <a:ext cx="9601200" cy="45720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A modern communication platform for schools — built for admins, teachers, and parents.</a:t>
            </a:r>
            <a:endParaRPr lang="en-US" sz="1400" dirty="0"/>
          </a:p>
        </p:txBody>
      </p:sp>
      <p:sp>
        <p:nvSpPr>
          <p:cNvPr id="10" name="Text 8"/>
          <p:cNvSpPr/>
          <p:nvPr/>
        </p:nvSpPr>
        <p:spPr>
          <a:xfrm>
            <a:off x="640080" y="5577840"/>
            <a:ext cx="640080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Prepared for:  Your School Leadership Team</a:t>
            </a:r>
            <a:endParaRPr lang="en-US" sz="1200" dirty="0"/>
          </a:p>
        </p:txBody>
      </p:sp>
      <p:sp>
        <p:nvSpPr>
          <p:cNvPr id="11" name="Text 9"/>
          <p:cNvSpPr/>
          <p:nvPr/>
        </p:nvSpPr>
        <p:spPr>
          <a:xfrm>
            <a:off x="640080" y="5897880"/>
            <a:ext cx="640080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Presented by:  FBT  —  April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400" kern="0" dirty="0">
                <a:solidFill>
                  <a:srgbClr val="E11D48"/>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640080" y="822960"/>
            <a:ext cx="10972800" cy="914400"/>
          </a:xfrm>
          <a:prstGeom prst="rect">
            <a:avLst/>
          </a:prstGeom>
          <a:noFill/>
          <a:ln/>
        </p:spPr>
        <p:txBody>
          <a:bodyPr wrap="square" lIns="0" tIns="0" rIns="0" bIns="0" rtlCol="0" anchor="t"/>
          <a:lstStyle/>
          <a:p>
            <a:pPr indent="0" marL="0">
              <a:buNone/>
            </a:pPr>
            <a:r>
              <a:rPr lang="en-US" sz="3600" b="1" dirty="0">
                <a:solidFill>
                  <a:srgbClr val="0F172A"/>
                </a:solidFill>
                <a:latin typeface="Georgia" pitchFamily="34" charset="0"/>
                <a:ea typeface="Georgia" pitchFamily="34" charset="-122"/>
                <a:cs typeface="Georgia" pitchFamily="34" charset="-120"/>
              </a:rPr>
              <a:t>School communication today is fragmented.</a:t>
            </a:r>
            <a:endParaRPr lang="en-US" sz="3600" dirty="0"/>
          </a:p>
        </p:txBody>
      </p:sp>
      <p:sp>
        <p:nvSpPr>
          <p:cNvPr id="4" name="Text 2"/>
          <p:cNvSpPr/>
          <p:nvPr/>
        </p:nvSpPr>
        <p:spPr>
          <a:xfrm>
            <a:off x="640080" y="1874520"/>
            <a:ext cx="10972800" cy="73152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Every school runs on communication. But most communication today happens across five or six different places — and nothing is tied together.</a:t>
            </a:r>
            <a:endParaRPr lang="en-US" sz="1400" dirty="0"/>
          </a:p>
        </p:txBody>
      </p:sp>
      <p:sp>
        <p:nvSpPr>
          <p:cNvPr id="5" name="Shape 3"/>
          <p:cNvSpPr/>
          <p:nvPr/>
        </p:nvSpPr>
        <p:spPr>
          <a:xfrm>
            <a:off x="640080" y="2834640"/>
            <a:ext cx="2697480" cy="256032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6" name="Shape 4"/>
          <p:cNvSpPr/>
          <p:nvPr/>
        </p:nvSpPr>
        <p:spPr>
          <a:xfrm>
            <a:off x="640080" y="2834640"/>
            <a:ext cx="73152" cy="2560320"/>
          </a:xfrm>
          <a:prstGeom prst="rect">
            <a:avLst/>
          </a:prstGeom>
          <a:solidFill>
            <a:srgbClr val="E11D48"/>
          </a:solidFill>
          <a:ln/>
        </p:spPr>
      </p:sp>
      <p:sp>
        <p:nvSpPr>
          <p:cNvPr id="7" name="Text 5"/>
          <p:cNvSpPr/>
          <p:nvPr/>
        </p:nvSpPr>
        <p:spPr>
          <a:xfrm>
            <a:off x="868680" y="2999232"/>
            <a:ext cx="2331720" cy="411480"/>
          </a:xfrm>
          <a:prstGeom prst="rect">
            <a:avLst/>
          </a:prstGeom>
          <a:noFill/>
          <a:ln/>
        </p:spPr>
        <p:txBody>
          <a:bodyPr wrap="square" lIns="0" tIns="0" rIns="0" bIns="0" rtlCol="0" anchor="t"/>
          <a:lstStyle/>
          <a:p>
            <a:pPr indent="0" marL="0">
              <a:buNone/>
            </a:pPr>
            <a:r>
              <a:rPr lang="en-US" sz="1600" b="1" dirty="0">
                <a:solidFill>
                  <a:srgbClr val="0F172A"/>
                </a:solidFill>
                <a:latin typeface="Georgia" pitchFamily="34" charset="0"/>
                <a:ea typeface="Georgia" pitchFamily="34" charset="-122"/>
                <a:cs typeface="Georgia" pitchFamily="34" charset="-120"/>
              </a:rPr>
              <a:t>WhatsApp chaos</a:t>
            </a:r>
            <a:endParaRPr lang="en-US" sz="1600" dirty="0"/>
          </a:p>
        </p:txBody>
      </p:sp>
      <p:sp>
        <p:nvSpPr>
          <p:cNvPr id="8" name="Text 6"/>
          <p:cNvSpPr/>
          <p:nvPr/>
        </p:nvSpPr>
        <p:spPr>
          <a:xfrm>
            <a:off x="868680" y="3474720"/>
            <a:ext cx="2331720" cy="1783080"/>
          </a:xfrm>
          <a:prstGeom prst="rect">
            <a:avLst/>
          </a:prstGeom>
          <a:noFill/>
          <a:ln/>
        </p:spPr>
        <p:txBody>
          <a:bodyPr wrap="square" lIns="0" tIns="0" rIns="0" bIns="0" rtlCol="0" anchor="t"/>
          <a:lstStyle/>
          <a:p>
            <a:pPr indent="0" marL="0">
              <a:spcAft>
                <a:spcPts val="400"/>
              </a:spcAft>
              <a:buNone/>
            </a:pPr>
            <a:r>
              <a:rPr lang="en-US" sz="1200" dirty="0">
                <a:solidFill>
                  <a:srgbClr val="64748B"/>
                </a:solidFill>
                <a:latin typeface="Calibri" pitchFamily="34" charset="0"/>
                <a:ea typeface="Calibri" pitchFamily="34" charset="-122"/>
                <a:cs typeface="Calibri" pitchFamily="34" charset="-120"/>
              </a:rPr>
              <a:t>Important messages get buried under memes, forwards, and off-topic chatter. Parents miss what matters.</a:t>
            </a:r>
            <a:endParaRPr lang="en-US" sz="1200" dirty="0"/>
          </a:p>
        </p:txBody>
      </p:sp>
      <p:sp>
        <p:nvSpPr>
          <p:cNvPr id="9" name="Shape 7"/>
          <p:cNvSpPr/>
          <p:nvPr/>
        </p:nvSpPr>
        <p:spPr>
          <a:xfrm>
            <a:off x="3474720" y="2834640"/>
            <a:ext cx="2697480" cy="256032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10" name="Shape 8"/>
          <p:cNvSpPr/>
          <p:nvPr/>
        </p:nvSpPr>
        <p:spPr>
          <a:xfrm>
            <a:off x="3474720" y="2834640"/>
            <a:ext cx="73152" cy="2560320"/>
          </a:xfrm>
          <a:prstGeom prst="rect">
            <a:avLst/>
          </a:prstGeom>
          <a:solidFill>
            <a:srgbClr val="E11D48"/>
          </a:solidFill>
          <a:ln/>
        </p:spPr>
      </p:sp>
      <p:sp>
        <p:nvSpPr>
          <p:cNvPr id="11" name="Text 9"/>
          <p:cNvSpPr/>
          <p:nvPr/>
        </p:nvSpPr>
        <p:spPr>
          <a:xfrm>
            <a:off x="3703320" y="2999232"/>
            <a:ext cx="2331720" cy="411480"/>
          </a:xfrm>
          <a:prstGeom prst="rect">
            <a:avLst/>
          </a:prstGeom>
          <a:noFill/>
          <a:ln/>
        </p:spPr>
        <p:txBody>
          <a:bodyPr wrap="square" lIns="0" tIns="0" rIns="0" bIns="0" rtlCol="0" anchor="t"/>
          <a:lstStyle/>
          <a:p>
            <a:pPr indent="0" marL="0">
              <a:buNone/>
            </a:pPr>
            <a:r>
              <a:rPr lang="en-US" sz="1600" b="1" dirty="0">
                <a:solidFill>
                  <a:srgbClr val="0F172A"/>
                </a:solidFill>
                <a:latin typeface="Georgia" pitchFamily="34" charset="0"/>
                <a:ea typeface="Georgia" pitchFamily="34" charset="-122"/>
                <a:cs typeface="Georgia" pitchFamily="34" charset="-120"/>
              </a:rPr>
              <a:t>Paper circulars</a:t>
            </a:r>
            <a:endParaRPr lang="en-US" sz="1600" dirty="0"/>
          </a:p>
        </p:txBody>
      </p:sp>
      <p:sp>
        <p:nvSpPr>
          <p:cNvPr id="12" name="Text 10"/>
          <p:cNvSpPr/>
          <p:nvPr/>
        </p:nvSpPr>
        <p:spPr>
          <a:xfrm>
            <a:off x="3703320" y="3474720"/>
            <a:ext cx="2331720" cy="1783080"/>
          </a:xfrm>
          <a:prstGeom prst="rect">
            <a:avLst/>
          </a:prstGeom>
          <a:noFill/>
          <a:ln/>
        </p:spPr>
        <p:txBody>
          <a:bodyPr wrap="square" lIns="0" tIns="0" rIns="0" bIns="0" rtlCol="0" anchor="t"/>
          <a:lstStyle/>
          <a:p>
            <a:pPr indent="0" marL="0">
              <a:spcAft>
                <a:spcPts val="400"/>
              </a:spcAft>
              <a:buNone/>
            </a:pPr>
            <a:r>
              <a:rPr lang="en-US" sz="1200" dirty="0">
                <a:solidFill>
                  <a:srgbClr val="64748B"/>
                </a:solidFill>
                <a:latin typeface="Calibri" pitchFamily="34" charset="0"/>
                <a:ea typeface="Calibri" pitchFamily="34" charset="-122"/>
                <a:cs typeface="Calibri" pitchFamily="34" charset="-120"/>
              </a:rPr>
              <a:t>Notices sent home in schoolbags are lost, forgotten, or never shown to parents in the first place.</a:t>
            </a:r>
            <a:endParaRPr lang="en-US" sz="1200" dirty="0"/>
          </a:p>
        </p:txBody>
      </p:sp>
      <p:sp>
        <p:nvSpPr>
          <p:cNvPr id="13" name="Shape 11"/>
          <p:cNvSpPr/>
          <p:nvPr/>
        </p:nvSpPr>
        <p:spPr>
          <a:xfrm>
            <a:off x="6309360" y="2834640"/>
            <a:ext cx="2697480" cy="256032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14" name="Shape 12"/>
          <p:cNvSpPr/>
          <p:nvPr/>
        </p:nvSpPr>
        <p:spPr>
          <a:xfrm>
            <a:off x="6309360" y="2834640"/>
            <a:ext cx="73152" cy="2560320"/>
          </a:xfrm>
          <a:prstGeom prst="rect">
            <a:avLst/>
          </a:prstGeom>
          <a:solidFill>
            <a:srgbClr val="E11D48"/>
          </a:solidFill>
          <a:ln/>
        </p:spPr>
      </p:sp>
      <p:sp>
        <p:nvSpPr>
          <p:cNvPr id="15" name="Text 13"/>
          <p:cNvSpPr/>
          <p:nvPr/>
        </p:nvSpPr>
        <p:spPr>
          <a:xfrm>
            <a:off x="6537960" y="2999232"/>
            <a:ext cx="2331720" cy="411480"/>
          </a:xfrm>
          <a:prstGeom prst="rect">
            <a:avLst/>
          </a:prstGeom>
          <a:noFill/>
          <a:ln/>
        </p:spPr>
        <p:txBody>
          <a:bodyPr wrap="square" lIns="0" tIns="0" rIns="0" bIns="0" rtlCol="0" anchor="t"/>
          <a:lstStyle/>
          <a:p>
            <a:pPr indent="0" marL="0">
              <a:buNone/>
            </a:pPr>
            <a:r>
              <a:rPr lang="en-US" sz="1600" b="1" dirty="0">
                <a:solidFill>
                  <a:srgbClr val="0F172A"/>
                </a:solidFill>
                <a:latin typeface="Georgia" pitchFamily="34" charset="0"/>
                <a:ea typeface="Georgia" pitchFamily="34" charset="-122"/>
                <a:cs typeface="Georgia" pitchFamily="34" charset="-120"/>
              </a:rPr>
              <a:t>Attendance on paper</a:t>
            </a:r>
            <a:endParaRPr lang="en-US" sz="1600" dirty="0"/>
          </a:p>
        </p:txBody>
      </p:sp>
      <p:sp>
        <p:nvSpPr>
          <p:cNvPr id="16" name="Text 14"/>
          <p:cNvSpPr/>
          <p:nvPr/>
        </p:nvSpPr>
        <p:spPr>
          <a:xfrm>
            <a:off x="6537960" y="3474720"/>
            <a:ext cx="2331720" cy="1783080"/>
          </a:xfrm>
          <a:prstGeom prst="rect">
            <a:avLst/>
          </a:prstGeom>
          <a:noFill/>
          <a:ln/>
        </p:spPr>
        <p:txBody>
          <a:bodyPr wrap="square" lIns="0" tIns="0" rIns="0" bIns="0" rtlCol="0" anchor="t"/>
          <a:lstStyle/>
          <a:p>
            <a:pPr indent="0" marL="0">
              <a:spcAft>
                <a:spcPts val="400"/>
              </a:spcAft>
              <a:buNone/>
            </a:pPr>
            <a:r>
              <a:rPr lang="en-US" sz="1200" dirty="0">
                <a:solidFill>
                  <a:srgbClr val="64748B"/>
                </a:solidFill>
                <a:latin typeface="Calibri" pitchFamily="34" charset="0"/>
                <a:ea typeface="Calibri" pitchFamily="34" charset="-122"/>
                <a:cs typeface="Calibri" pitchFamily="34" charset="-120"/>
              </a:rPr>
              <a:t>Teachers mark registers by hand, then copy the data into reports — double work, errors, no trail.</a:t>
            </a:r>
            <a:endParaRPr lang="en-US" sz="1200" dirty="0"/>
          </a:p>
        </p:txBody>
      </p:sp>
      <p:sp>
        <p:nvSpPr>
          <p:cNvPr id="17" name="Shape 15"/>
          <p:cNvSpPr/>
          <p:nvPr/>
        </p:nvSpPr>
        <p:spPr>
          <a:xfrm>
            <a:off x="9144000" y="2834640"/>
            <a:ext cx="2697480" cy="256032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18" name="Shape 16"/>
          <p:cNvSpPr/>
          <p:nvPr/>
        </p:nvSpPr>
        <p:spPr>
          <a:xfrm>
            <a:off x="9144000" y="2834640"/>
            <a:ext cx="73152" cy="2560320"/>
          </a:xfrm>
          <a:prstGeom prst="rect">
            <a:avLst/>
          </a:prstGeom>
          <a:solidFill>
            <a:srgbClr val="E11D48"/>
          </a:solidFill>
          <a:ln/>
        </p:spPr>
      </p:sp>
      <p:sp>
        <p:nvSpPr>
          <p:cNvPr id="19" name="Text 17"/>
          <p:cNvSpPr/>
          <p:nvPr/>
        </p:nvSpPr>
        <p:spPr>
          <a:xfrm>
            <a:off x="9372600" y="2999232"/>
            <a:ext cx="2331720" cy="411480"/>
          </a:xfrm>
          <a:prstGeom prst="rect">
            <a:avLst/>
          </a:prstGeom>
          <a:noFill/>
          <a:ln/>
        </p:spPr>
        <p:txBody>
          <a:bodyPr wrap="square" lIns="0" tIns="0" rIns="0" bIns="0" rtlCol="0" anchor="t"/>
          <a:lstStyle/>
          <a:p>
            <a:pPr indent="0" marL="0">
              <a:buNone/>
            </a:pPr>
            <a:r>
              <a:rPr lang="en-US" sz="1600" b="1" dirty="0">
                <a:solidFill>
                  <a:srgbClr val="0F172A"/>
                </a:solidFill>
                <a:latin typeface="Georgia" pitchFamily="34" charset="0"/>
                <a:ea typeface="Georgia" pitchFamily="34" charset="-122"/>
                <a:cs typeface="Georgia" pitchFamily="34" charset="-120"/>
              </a:rPr>
              <a:t>Homework confusion</a:t>
            </a:r>
            <a:endParaRPr lang="en-US" sz="1600" dirty="0"/>
          </a:p>
        </p:txBody>
      </p:sp>
      <p:sp>
        <p:nvSpPr>
          <p:cNvPr id="20" name="Text 18"/>
          <p:cNvSpPr/>
          <p:nvPr/>
        </p:nvSpPr>
        <p:spPr>
          <a:xfrm>
            <a:off x="9372600" y="3474720"/>
            <a:ext cx="2331720" cy="1783080"/>
          </a:xfrm>
          <a:prstGeom prst="rect">
            <a:avLst/>
          </a:prstGeom>
          <a:noFill/>
          <a:ln/>
        </p:spPr>
        <p:txBody>
          <a:bodyPr wrap="square" lIns="0" tIns="0" rIns="0" bIns="0" rtlCol="0" anchor="t"/>
          <a:lstStyle/>
          <a:p>
            <a:pPr indent="0" marL="0">
              <a:spcAft>
                <a:spcPts val="400"/>
              </a:spcAft>
              <a:buNone/>
            </a:pPr>
            <a:r>
              <a:rPr lang="en-US" sz="1200" dirty="0">
                <a:solidFill>
                  <a:srgbClr val="64748B"/>
                </a:solidFill>
                <a:latin typeface="Calibri" pitchFamily="34" charset="0"/>
                <a:ea typeface="Calibri" pitchFamily="34" charset="-122"/>
                <a:cs typeface="Calibri" pitchFamily="34" charset="-120"/>
              </a:rPr>
              <a:t>Homework is announced verbally, written on a board, or typed in a group. Parents have no record to refer back to.</a:t>
            </a:r>
            <a:endParaRPr lang="en-US" sz="1200" dirty="0"/>
          </a:p>
        </p:txBody>
      </p:sp>
      <p:sp>
        <p:nvSpPr>
          <p:cNvPr id="21" name="Shape 19"/>
          <p:cNvSpPr/>
          <p:nvPr/>
        </p:nvSpPr>
        <p:spPr>
          <a:xfrm>
            <a:off x="640080" y="5623560"/>
            <a:ext cx="10972800" cy="685800"/>
          </a:xfrm>
          <a:prstGeom prst="rect">
            <a:avLst/>
          </a:prstGeom>
          <a:solidFill>
            <a:srgbClr val="0F1E3D"/>
          </a:solidFill>
          <a:ln/>
        </p:spPr>
      </p:sp>
      <p:sp>
        <p:nvSpPr>
          <p:cNvPr id="22" name="Text 20"/>
          <p:cNvSpPr/>
          <p:nvPr/>
        </p:nvSpPr>
        <p:spPr>
          <a:xfrm>
            <a:off x="822960" y="5669280"/>
            <a:ext cx="10607040" cy="594360"/>
          </a:xfrm>
          <a:prstGeom prst="rect">
            <a:avLst/>
          </a:prstGeom>
          <a:noFill/>
          <a:ln/>
        </p:spPr>
        <p:txBody>
          <a:bodyPr wrap="square" lIns="0" tIns="0" rIns="0" bIns="0" rtlCol="0" anchor="ctr"/>
          <a:lstStyle/>
          <a:p>
            <a:pPr indent="0" marL="0">
              <a:buNone/>
            </a:pPr>
            <a:r>
              <a:rPr lang="en-US" sz="1300" i="1" dirty="0">
                <a:solidFill>
                  <a:srgbClr val="FFFFFF"/>
                </a:solidFill>
                <a:latin typeface="Georgia" pitchFamily="34" charset="0"/>
                <a:ea typeface="Georgia" pitchFamily="34" charset="-122"/>
                <a:cs typeface="Georgia" pitchFamily="34" charset="-120"/>
              </a:rPr>
              <a:t>The result: teachers are overworked, parents feel disconnected, and admins have no single view of the school.</a:t>
            </a:r>
            <a:endParaRPr lang="en-US" sz="1300" dirty="0"/>
          </a:p>
        </p:txBody>
      </p:sp>
      <p:sp>
        <p:nvSpPr>
          <p:cNvPr id="23" name="Shape 21"/>
          <p:cNvSpPr/>
          <p:nvPr/>
        </p:nvSpPr>
        <p:spPr>
          <a:xfrm>
            <a:off x="457200" y="6446520"/>
            <a:ext cx="11247120" cy="0"/>
          </a:xfrm>
          <a:prstGeom prst="line">
            <a:avLst/>
          </a:prstGeom>
          <a:noFill/>
          <a:ln w="9525">
            <a:solidFill>
              <a:srgbClr val="E2E8F0"/>
            </a:solidFill>
            <a:prstDash val="solid"/>
          </a:ln>
        </p:spPr>
      </p:sp>
      <p:sp>
        <p:nvSpPr>
          <p:cNvPr id="24" name="Text 22"/>
          <p:cNvSpPr/>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EduConnect  |  FBT — Future Beyond Technology</a:t>
            </a:r>
            <a:endParaRPr lang="en-US" sz="900" dirty="0"/>
          </a:p>
        </p:txBody>
      </p:sp>
      <p:sp>
        <p:nvSpPr>
          <p:cNvPr id="25" name="Text 23"/>
          <p:cNvSpPr/>
          <p:nvPr/>
        </p:nvSpPr>
        <p:spPr>
          <a:xfrm>
            <a:off x="10972800" y="653796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754880" cy="6858000"/>
          </a:xfrm>
          <a:prstGeom prst="rect">
            <a:avLst/>
          </a:prstGeom>
          <a:solidFill>
            <a:srgbClr val="0F1E3D"/>
          </a:solidFill>
          <a:ln/>
        </p:spPr>
      </p:sp>
      <p:sp>
        <p:nvSpPr>
          <p:cNvPr id="3" name="Text 1"/>
          <p:cNvSpPr/>
          <p:nvPr/>
        </p:nvSpPr>
        <p:spPr>
          <a:xfrm>
            <a:off x="548640" y="640080"/>
            <a:ext cx="3657600" cy="274320"/>
          </a:xfrm>
          <a:prstGeom prst="rect">
            <a:avLst/>
          </a:prstGeom>
          <a:noFill/>
          <a:ln/>
        </p:spPr>
        <p:txBody>
          <a:bodyPr wrap="square" lIns="0" tIns="0" rIns="0" bIns="0" rtlCol="0" anchor="ctr"/>
          <a:lstStyle/>
          <a:p>
            <a:pPr indent="0" marL="0">
              <a:buNone/>
            </a:pPr>
            <a:r>
              <a:rPr lang="en-US" sz="1100" b="1" spc="600" kern="0" dirty="0">
                <a:solidFill>
                  <a:srgbClr val="F59E0B"/>
                </a:solidFill>
                <a:latin typeface="Calibri" pitchFamily="34" charset="0"/>
                <a:ea typeface="Calibri" pitchFamily="34" charset="-122"/>
                <a:cs typeface="Calibri" pitchFamily="34" charset="-120"/>
              </a:rPr>
              <a:t>THE SOLUTION</a:t>
            </a:r>
            <a:endParaRPr lang="en-US" sz="1100" dirty="0"/>
          </a:p>
        </p:txBody>
      </p:sp>
      <p:sp>
        <p:nvSpPr>
          <p:cNvPr id="4" name="Text 2"/>
          <p:cNvSpPr/>
          <p:nvPr/>
        </p:nvSpPr>
        <p:spPr>
          <a:xfrm>
            <a:off x="548640" y="1005840"/>
            <a:ext cx="4023360" cy="118872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Meet EduConnect.</a:t>
            </a:r>
            <a:endParaRPr lang="en-US" sz="4000" dirty="0"/>
          </a:p>
        </p:txBody>
      </p:sp>
      <p:sp>
        <p:nvSpPr>
          <p:cNvPr id="5" name="Shape 3"/>
          <p:cNvSpPr/>
          <p:nvPr/>
        </p:nvSpPr>
        <p:spPr>
          <a:xfrm>
            <a:off x="548640" y="2331720"/>
            <a:ext cx="457200" cy="45720"/>
          </a:xfrm>
          <a:prstGeom prst="rect">
            <a:avLst/>
          </a:prstGeom>
          <a:solidFill>
            <a:srgbClr val="F59E0B"/>
          </a:solidFill>
          <a:ln/>
        </p:spPr>
      </p:sp>
      <p:sp>
        <p:nvSpPr>
          <p:cNvPr id="6" name="Text 4"/>
          <p:cNvSpPr/>
          <p:nvPr/>
        </p:nvSpPr>
        <p:spPr>
          <a:xfrm>
            <a:off x="548640" y="2514600"/>
            <a:ext cx="4023360" cy="182880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A single, purpose-built platform for your school's daily operations — attendance, homework, notices, and parent communication, all in one place.</a:t>
            </a:r>
            <a:endParaRPr lang="en-US" sz="1400" dirty="0"/>
          </a:p>
        </p:txBody>
      </p:sp>
      <p:sp>
        <p:nvSpPr>
          <p:cNvPr id="7" name="Text 5"/>
          <p:cNvSpPr/>
          <p:nvPr/>
        </p:nvSpPr>
        <p:spPr>
          <a:xfrm>
            <a:off x="548640" y="4846320"/>
            <a:ext cx="4023360" cy="457200"/>
          </a:xfrm>
          <a:prstGeom prst="rect">
            <a:avLst/>
          </a:prstGeom>
          <a:noFill/>
          <a:ln/>
        </p:spPr>
        <p:txBody>
          <a:bodyPr wrap="square" lIns="0" tIns="0" rIns="0" bIns="0" rtlCol="0" anchor="ctr"/>
          <a:lstStyle/>
          <a:p>
            <a:pPr indent="0" marL="0">
              <a:buNone/>
            </a:pPr>
            <a:r>
              <a:rPr lang="en-US" sz="1300" i="1" dirty="0">
                <a:solidFill>
                  <a:srgbClr val="F59E0B"/>
                </a:solidFill>
                <a:latin typeface="Georgia" pitchFamily="34" charset="0"/>
                <a:ea typeface="Georgia" pitchFamily="34" charset="-122"/>
                <a:cs typeface="Georgia" pitchFamily="34" charset="-120"/>
              </a:rPr>
              <a:t>Web + mobile. Secure. Offline-capable. Built for Indian schools.</a:t>
            </a:r>
            <a:endParaRPr lang="en-US" sz="1300" dirty="0"/>
          </a:p>
        </p:txBody>
      </p:sp>
      <p:sp>
        <p:nvSpPr>
          <p:cNvPr id="8" name="Text 6"/>
          <p:cNvSpPr/>
          <p:nvPr/>
        </p:nvSpPr>
        <p:spPr>
          <a:xfrm>
            <a:off x="5212080" y="640080"/>
            <a:ext cx="5486400" cy="274320"/>
          </a:xfrm>
          <a:prstGeom prst="rect">
            <a:avLst/>
          </a:prstGeom>
          <a:noFill/>
          <a:ln/>
        </p:spPr>
        <p:txBody>
          <a:bodyPr wrap="square" lIns="0" tIns="0" rIns="0" bIns="0" rtlCol="0" anchor="ctr"/>
          <a:lstStyle/>
          <a:p>
            <a:pPr indent="0" marL="0">
              <a:buNone/>
            </a:pPr>
            <a:r>
              <a:rPr lang="en-US" sz="1100" b="1" spc="400" kern="0" dirty="0">
                <a:solidFill>
                  <a:srgbClr val="0EA5E9"/>
                </a:solidFill>
                <a:latin typeface="Calibri" pitchFamily="34" charset="0"/>
                <a:ea typeface="Calibri" pitchFamily="34" charset="-122"/>
                <a:cs typeface="Calibri" pitchFamily="34" charset="-120"/>
              </a:rPr>
              <a:t>ONE SYSTEM, THREE EXPERIENCES</a:t>
            </a:r>
            <a:endParaRPr lang="en-US" sz="1100" dirty="0"/>
          </a:p>
        </p:txBody>
      </p:sp>
      <p:sp>
        <p:nvSpPr>
          <p:cNvPr id="9" name="Text 7"/>
          <p:cNvSpPr/>
          <p:nvPr/>
        </p:nvSpPr>
        <p:spPr>
          <a:xfrm>
            <a:off x="5212080" y="960120"/>
            <a:ext cx="6400800" cy="731520"/>
          </a:xfrm>
          <a:prstGeom prst="rect">
            <a:avLst/>
          </a:prstGeom>
          <a:noFill/>
          <a:ln/>
        </p:spPr>
        <p:txBody>
          <a:bodyPr wrap="square" lIns="0" tIns="0" rIns="0" bIns="0" rtlCol="0" anchor="ctr"/>
          <a:lstStyle/>
          <a:p>
            <a:pPr indent="0" marL="0">
              <a:buNone/>
            </a:pPr>
            <a:r>
              <a:rPr lang="en-US" sz="2600" b="1" dirty="0">
                <a:solidFill>
                  <a:srgbClr val="0F172A"/>
                </a:solidFill>
                <a:latin typeface="Georgia" pitchFamily="34" charset="0"/>
                <a:ea typeface="Georgia" pitchFamily="34" charset="-122"/>
                <a:cs typeface="Georgia" pitchFamily="34" charset="-120"/>
              </a:rPr>
              <a:t>Purpose-built for each role.</a:t>
            </a:r>
            <a:endParaRPr lang="en-US" sz="2600" dirty="0"/>
          </a:p>
        </p:txBody>
      </p:sp>
      <p:sp>
        <p:nvSpPr>
          <p:cNvPr id="10" name="Shape 8"/>
          <p:cNvSpPr/>
          <p:nvPr/>
        </p:nvSpPr>
        <p:spPr>
          <a:xfrm>
            <a:off x="5212080" y="2103120"/>
            <a:ext cx="914400" cy="914400"/>
          </a:xfrm>
          <a:prstGeom prst="ellipse">
            <a:avLst/>
          </a:prstGeom>
          <a:solidFill>
            <a:srgbClr val="1E3A8A"/>
          </a:solidFill>
          <a:ln/>
        </p:spPr>
      </p:sp>
      <p:sp>
        <p:nvSpPr>
          <p:cNvPr id="11" name="Text 9"/>
          <p:cNvSpPr/>
          <p:nvPr/>
        </p:nvSpPr>
        <p:spPr>
          <a:xfrm>
            <a:off x="5212080" y="2103120"/>
            <a:ext cx="914400" cy="914400"/>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A</a:t>
            </a:r>
            <a:endParaRPr lang="en-US" sz="2800" dirty="0"/>
          </a:p>
        </p:txBody>
      </p:sp>
      <p:sp>
        <p:nvSpPr>
          <p:cNvPr id="12" name="Text 10"/>
          <p:cNvSpPr/>
          <p:nvPr/>
        </p:nvSpPr>
        <p:spPr>
          <a:xfrm>
            <a:off x="6355080" y="2103120"/>
            <a:ext cx="1828800" cy="411480"/>
          </a:xfrm>
          <a:prstGeom prst="rect">
            <a:avLst/>
          </a:prstGeom>
          <a:noFill/>
          <a:ln/>
        </p:spPr>
        <p:txBody>
          <a:bodyPr wrap="square" lIns="0" tIns="0" rIns="0" bIns="0" rtlCol="0" anchor="ctr"/>
          <a:lstStyle/>
          <a:p>
            <a:pPr indent="0" marL="0">
              <a:buNone/>
            </a:pPr>
            <a:r>
              <a:rPr lang="en-US" sz="2000" b="1" dirty="0">
                <a:solidFill>
                  <a:srgbClr val="0F172A"/>
                </a:solidFill>
                <a:latin typeface="Georgia" pitchFamily="34" charset="0"/>
                <a:ea typeface="Georgia" pitchFamily="34" charset="-122"/>
                <a:cs typeface="Georgia" pitchFamily="34" charset="-120"/>
              </a:rPr>
              <a:t>Admin</a:t>
            </a:r>
            <a:endParaRPr lang="en-US" sz="2000" dirty="0"/>
          </a:p>
        </p:txBody>
      </p:sp>
      <p:sp>
        <p:nvSpPr>
          <p:cNvPr id="13" name="Text 11"/>
          <p:cNvSpPr/>
          <p:nvPr/>
        </p:nvSpPr>
        <p:spPr>
          <a:xfrm>
            <a:off x="6355080" y="2542032"/>
            <a:ext cx="5943600" cy="82296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Runs the school. Publishes notices, enrolls students, manages staff.</a:t>
            </a:r>
            <a:endParaRPr lang="en-US" sz="1200" dirty="0"/>
          </a:p>
        </p:txBody>
      </p:sp>
      <p:sp>
        <p:nvSpPr>
          <p:cNvPr id="14" name="Shape 12"/>
          <p:cNvSpPr/>
          <p:nvPr/>
        </p:nvSpPr>
        <p:spPr>
          <a:xfrm>
            <a:off x="5212080" y="3520440"/>
            <a:ext cx="914400" cy="914400"/>
          </a:xfrm>
          <a:prstGeom prst="ellipse">
            <a:avLst/>
          </a:prstGeom>
          <a:solidFill>
            <a:srgbClr val="0EA5E9"/>
          </a:solidFill>
          <a:ln/>
        </p:spPr>
      </p:sp>
      <p:sp>
        <p:nvSpPr>
          <p:cNvPr id="15" name="Text 13"/>
          <p:cNvSpPr/>
          <p:nvPr/>
        </p:nvSpPr>
        <p:spPr>
          <a:xfrm>
            <a:off x="5212080" y="3520440"/>
            <a:ext cx="914400" cy="914400"/>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T</a:t>
            </a:r>
            <a:endParaRPr lang="en-US" sz="2800" dirty="0"/>
          </a:p>
        </p:txBody>
      </p:sp>
      <p:sp>
        <p:nvSpPr>
          <p:cNvPr id="16" name="Text 14"/>
          <p:cNvSpPr/>
          <p:nvPr/>
        </p:nvSpPr>
        <p:spPr>
          <a:xfrm>
            <a:off x="6355080" y="3520440"/>
            <a:ext cx="1828800" cy="411480"/>
          </a:xfrm>
          <a:prstGeom prst="rect">
            <a:avLst/>
          </a:prstGeom>
          <a:noFill/>
          <a:ln/>
        </p:spPr>
        <p:txBody>
          <a:bodyPr wrap="square" lIns="0" tIns="0" rIns="0" bIns="0" rtlCol="0" anchor="ctr"/>
          <a:lstStyle/>
          <a:p>
            <a:pPr indent="0" marL="0">
              <a:buNone/>
            </a:pPr>
            <a:r>
              <a:rPr lang="en-US" sz="2000" b="1" dirty="0">
                <a:solidFill>
                  <a:srgbClr val="0F172A"/>
                </a:solidFill>
                <a:latin typeface="Georgia" pitchFamily="34" charset="0"/>
                <a:ea typeface="Georgia" pitchFamily="34" charset="-122"/>
                <a:cs typeface="Georgia" pitchFamily="34" charset="-120"/>
              </a:rPr>
              <a:t>Teacher</a:t>
            </a:r>
            <a:endParaRPr lang="en-US" sz="2000" dirty="0"/>
          </a:p>
        </p:txBody>
      </p:sp>
      <p:sp>
        <p:nvSpPr>
          <p:cNvPr id="17" name="Text 15"/>
          <p:cNvSpPr/>
          <p:nvPr/>
        </p:nvSpPr>
        <p:spPr>
          <a:xfrm>
            <a:off x="6355080" y="3959352"/>
            <a:ext cx="5943600" cy="82296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Marks attendance, assigns homework, manages their classes.</a:t>
            </a:r>
            <a:endParaRPr lang="en-US" sz="1200" dirty="0"/>
          </a:p>
        </p:txBody>
      </p:sp>
      <p:sp>
        <p:nvSpPr>
          <p:cNvPr id="18" name="Shape 16"/>
          <p:cNvSpPr/>
          <p:nvPr/>
        </p:nvSpPr>
        <p:spPr>
          <a:xfrm>
            <a:off x="5212080" y="4937760"/>
            <a:ext cx="914400" cy="914400"/>
          </a:xfrm>
          <a:prstGeom prst="ellipse">
            <a:avLst/>
          </a:prstGeom>
          <a:solidFill>
            <a:srgbClr val="F59E0B"/>
          </a:solidFill>
          <a:ln/>
        </p:spPr>
      </p:sp>
      <p:sp>
        <p:nvSpPr>
          <p:cNvPr id="19" name="Text 17"/>
          <p:cNvSpPr/>
          <p:nvPr/>
        </p:nvSpPr>
        <p:spPr>
          <a:xfrm>
            <a:off x="5212080" y="4937760"/>
            <a:ext cx="914400" cy="914400"/>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P</a:t>
            </a:r>
            <a:endParaRPr lang="en-US" sz="2800" dirty="0"/>
          </a:p>
        </p:txBody>
      </p:sp>
      <p:sp>
        <p:nvSpPr>
          <p:cNvPr id="20" name="Text 18"/>
          <p:cNvSpPr/>
          <p:nvPr/>
        </p:nvSpPr>
        <p:spPr>
          <a:xfrm>
            <a:off x="6355080" y="4937760"/>
            <a:ext cx="1828800" cy="411480"/>
          </a:xfrm>
          <a:prstGeom prst="rect">
            <a:avLst/>
          </a:prstGeom>
          <a:noFill/>
          <a:ln/>
        </p:spPr>
        <p:txBody>
          <a:bodyPr wrap="square" lIns="0" tIns="0" rIns="0" bIns="0" rtlCol="0" anchor="ctr"/>
          <a:lstStyle/>
          <a:p>
            <a:pPr indent="0" marL="0">
              <a:buNone/>
            </a:pPr>
            <a:r>
              <a:rPr lang="en-US" sz="2000" b="1" dirty="0">
                <a:solidFill>
                  <a:srgbClr val="0F172A"/>
                </a:solidFill>
                <a:latin typeface="Georgia" pitchFamily="34" charset="0"/>
                <a:ea typeface="Georgia" pitchFamily="34" charset="-122"/>
                <a:cs typeface="Georgia" pitchFamily="34" charset="-120"/>
              </a:rPr>
              <a:t>Parent</a:t>
            </a:r>
            <a:endParaRPr lang="en-US" sz="2000" dirty="0"/>
          </a:p>
        </p:txBody>
      </p:sp>
      <p:sp>
        <p:nvSpPr>
          <p:cNvPr id="21" name="Text 19"/>
          <p:cNvSpPr/>
          <p:nvPr/>
        </p:nvSpPr>
        <p:spPr>
          <a:xfrm>
            <a:off x="6355080" y="5376672"/>
            <a:ext cx="5943600" cy="82296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Tracks the child, reads notices, applies for leave — with a simple PIN.</a:t>
            </a:r>
            <a:endParaRPr lang="en-US" sz="1200" dirty="0"/>
          </a:p>
        </p:txBody>
      </p:sp>
      <p:sp>
        <p:nvSpPr>
          <p:cNvPr id="22" name="Shape 20"/>
          <p:cNvSpPr/>
          <p:nvPr/>
        </p:nvSpPr>
        <p:spPr>
          <a:xfrm>
            <a:off x="457200" y="6446520"/>
            <a:ext cx="11247120" cy="0"/>
          </a:xfrm>
          <a:prstGeom prst="line">
            <a:avLst/>
          </a:prstGeom>
          <a:noFill/>
          <a:ln w="9525">
            <a:solidFill>
              <a:srgbClr val="E2E8F0"/>
            </a:solidFill>
            <a:prstDash val="solid"/>
          </a:ln>
        </p:spPr>
      </p:sp>
      <p:sp>
        <p:nvSpPr>
          <p:cNvPr id="23" name="Text 21"/>
          <p:cNvSpPr/>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EduConnect  |  FBT — Future Beyond Technology</a:t>
            </a:r>
            <a:endParaRPr lang="en-US" sz="900" dirty="0"/>
          </a:p>
        </p:txBody>
      </p:sp>
      <p:sp>
        <p:nvSpPr>
          <p:cNvPr id="24" name="Text 22"/>
          <p:cNvSpPr/>
          <p:nvPr/>
        </p:nvSpPr>
        <p:spPr>
          <a:xfrm>
            <a:off x="10972800" y="653796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400" kern="0" dirty="0">
                <a:solidFill>
                  <a:srgbClr val="0EA5E9"/>
                </a:solidFill>
                <a:latin typeface="Calibri" pitchFamily="34" charset="0"/>
                <a:ea typeface="Calibri" pitchFamily="34" charset="-122"/>
                <a:cs typeface="Calibri" pitchFamily="34" charset="-120"/>
              </a:rPr>
              <a:t>HOW IT WORKS</a:t>
            </a:r>
            <a:endParaRPr lang="en-US" sz="1100" dirty="0"/>
          </a:p>
        </p:txBody>
      </p:sp>
      <p:sp>
        <p:nvSpPr>
          <p:cNvPr id="3" name="Text 1"/>
          <p:cNvSpPr/>
          <p:nvPr/>
        </p:nvSpPr>
        <p:spPr>
          <a:xfrm>
            <a:off x="640080" y="822960"/>
            <a:ext cx="10972800" cy="914400"/>
          </a:xfrm>
          <a:prstGeom prst="rect">
            <a:avLst/>
          </a:prstGeom>
          <a:noFill/>
          <a:ln/>
        </p:spPr>
        <p:txBody>
          <a:bodyPr wrap="square" lIns="0" tIns="0" rIns="0" bIns="0" rtlCol="0" anchor="t"/>
          <a:lstStyle/>
          <a:p>
            <a:pPr indent="0" marL="0">
              <a:buNone/>
            </a:pPr>
            <a:r>
              <a:rPr lang="en-US" sz="3600" b="1" dirty="0">
                <a:solidFill>
                  <a:srgbClr val="0F172A"/>
                </a:solidFill>
                <a:latin typeface="Georgia" pitchFamily="34" charset="0"/>
                <a:ea typeface="Georgia" pitchFamily="34" charset="-122"/>
                <a:cs typeface="Georgia" pitchFamily="34" charset="-120"/>
              </a:rPr>
              <a:t>A single source of truth — three connected workflows.</a:t>
            </a:r>
            <a:endParaRPr lang="en-US" sz="3600" dirty="0"/>
          </a:p>
        </p:txBody>
      </p:sp>
      <p:sp>
        <p:nvSpPr>
          <p:cNvPr id="4" name="Text 2"/>
          <p:cNvSpPr/>
          <p:nvPr/>
        </p:nvSpPr>
        <p:spPr>
          <a:xfrm>
            <a:off x="640080" y="1828800"/>
            <a:ext cx="10972800" cy="45720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Every action flows through EduConnect and reaches exactly the right people — instantly.</a:t>
            </a:r>
            <a:endParaRPr lang="en-US" sz="1400" dirty="0"/>
          </a:p>
        </p:txBody>
      </p:sp>
      <p:sp>
        <p:nvSpPr>
          <p:cNvPr id="5" name="Shape 3"/>
          <p:cNvSpPr/>
          <p:nvPr/>
        </p:nvSpPr>
        <p:spPr>
          <a:xfrm>
            <a:off x="594360" y="2743200"/>
            <a:ext cx="3383280" cy="310896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6" name="Shape 4"/>
          <p:cNvSpPr/>
          <p:nvPr/>
        </p:nvSpPr>
        <p:spPr>
          <a:xfrm>
            <a:off x="594360" y="2743200"/>
            <a:ext cx="3383280" cy="109728"/>
          </a:xfrm>
          <a:prstGeom prst="rect">
            <a:avLst/>
          </a:prstGeom>
          <a:solidFill>
            <a:srgbClr val="1E3A8A"/>
          </a:solidFill>
          <a:ln/>
        </p:spPr>
      </p:sp>
      <p:sp>
        <p:nvSpPr>
          <p:cNvPr id="7" name="Shape 5"/>
          <p:cNvSpPr/>
          <p:nvPr/>
        </p:nvSpPr>
        <p:spPr>
          <a:xfrm>
            <a:off x="914400" y="3063240"/>
            <a:ext cx="822960" cy="822960"/>
          </a:xfrm>
          <a:prstGeom prst="ellipse">
            <a:avLst/>
          </a:prstGeom>
          <a:solidFill>
            <a:srgbClr val="1E3A8A"/>
          </a:solidFill>
          <a:ln/>
        </p:spPr>
      </p:sp>
      <p:sp>
        <p:nvSpPr>
          <p:cNvPr id="8" name="Text 6"/>
          <p:cNvSpPr/>
          <p:nvPr/>
        </p:nvSpPr>
        <p:spPr>
          <a:xfrm>
            <a:off x="914400" y="3063240"/>
            <a:ext cx="822960" cy="822960"/>
          </a:xfrm>
          <a:prstGeom prst="rect">
            <a:avLst/>
          </a:prstGeom>
          <a:noFill/>
          <a:ln/>
        </p:spPr>
        <p:txBody>
          <a:bodyPr wrap="square" lIns="0" tIns="0" rIns="0" bIns="0" rtlCol="0" anchor="ctr"/>
          <a:lstStyle/>
          <a:p>
            <a:pPr algn="ctr" indent="0" marL="0">
              <a:buNone/>
            </a:pPr>
            <a:r>
              <a:rPr lang="en-US" sz="2520" b="1" dirty="0">
                <a:solidFill>
                  <a:srgbClr val="FFFFFF"/>
                </a:solidFill>
                <a:latin typeface="Georgia" pitchFamily="34" charset="0"/>
                <a:ea typeface="Georgia" pitchFamily="34" charset="-122"/>
                <a:cs typeface="Georgia" pitchFamily="34" charset="-120"/>
              </a:rPr>
              <a:t>A</a:t>
            </a:r>
            <a:endParaRPr lang="en-US" sz="2520" dirty="0"/>
          </a:p>
        </p:txBody>
      </p:sp>
      <p:sp>
        <p:nvSpPr>
          <p:cNvPr id="9" name="Text 7"/>
          <p:cNvSpPr/>
          <p:nvPr/>
        </p:nvSpPr>
        <p:spPr>
          <a:xfrm>
            <a:off x="1874520" y="3108960"/>
            <a:ext cx="2011680" cy="457200"/>
          </a:xfrm>
          <a:prstGeom prst="rect">
            <a:avLst/>
          </a:prstGeom>
          <a:noFill/>
          <a:ln/>
        </p:spPr>
        <p:txBody>
          <a:bodyPr wrap="square" lIns="0" tIns="0" rIns="0" bIns="0" rtlCol="0" anchor="ctr"/>
          <a:lstStyle/>
          <a:p>
            <a:pPr indent="0" marL="0">
              <a:buNone/>
            </a:pPr>
            <a:r>
              <a:rPr lang="en-US" sz="2200" b="1" dirty="0">
                <a:solidFill>
                  <a:srgbClr val="0F172A"/>
                </a:solidFill>
                <a:latin typeface="Georgia" pitchFamily="34" charset="0"/>
                <a:ea typeface="Georgia" pitchFamily="34" charset="-122"/>
                <a:cs typeface="Georgia" pitchFamily="34" charset="-120"/>
              </a:rPr>
              <a:t>Admin</a:t>
            </a:r>
            <a:endParaRPr lang="en-US" sz="2200" dirty="0"/>
          </a:p>
        </p:txBody>
      </p:sp>
      <p:sp>
        <p:nvSpPr>
          <p:cNvPr id="10" name="Text 8"/>
          <p:cNvSpPr/>
          <p:nvPr/>
        </p:nvSpPr>
        <p:spPr>
          <a:xfrm>
            <a:off x="1874520" y="3566160"/>
            <a:ext cx="2011680" cy="274320"/>
          </a:xfrm>
          <a:prstGeom prst="rect">
            <a:avLst/>
          </a:prstGeom>
          <a:noFill/>
          <a:ln/>
        </p:spPr>
        <p:txBody>
          <a:bodyPr wrap="square" lIns="0" tIns="0" rIns="0" bIns="0" rtlCol="0" anchor="ctr"/>
          <a:lstStyle/>
          <a:p>
            <a:pPr indent="0" marL="0">
              <a:buNone/>
            </a:pPr>
            <a:r>
              <a:rPr lang="en-US" sz="1000" b="1" spc="200" kern="0" dirty="0">
                <a:solidFill>
                  <a:srgbClr val="1E3A8A"/>
                </a:solidFill>
                <a:latin typeface="Calibri" pitchFamily="34" charset="0"/>
                <a:ea typeface="Calibri" pitchFamily="34" charset="-122"/>
                <a:cs typeface="Calibri" pitchFamily="34" charset="-120"/>
              </a:rPr>
              <a:t>ROLE</a:t>
            </a:r>
            <a:endParaRPr lang="en-US" sz="1000" dirty="0"/>
          </a:p>
        </p:txBody>
      </p:sp>
      <p:sp>
        <p:nvSpPr>
          <p:cNvPr id="11" name="Text 9"/>
          <p:cNvSpPr/>
          <p:nvPr/>
        </p:nvSpPr>
        <p:spPr>
          <a:xfrm>
            <a:off x="914400" y="4160520"/>
            <a:ext cx="2834640" cy="15544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0F172A"/>
                </a:solidFill>
                <a:latin typeface="Calibri" pitchFamily="34" charset="0"/>
                <a:ea typeface="Calibri" pitchFamily="34" charset="-122"/>
                <a:cs typeface="Calibri" pitchFamily="34" charset="-120"/>
              </a:rPr>
              <a:t>Enrolls students</a:t>
            </a:r>
            <a:endParaRPr lang="en-US" sz="1300" dirty="0"/>
          </a:p>
          <a:p>
            <a:pPr marL="342900" indent="-342900">
              <a:spcAft>
                <a:spcPts val="700"/>
              </a:spcAft>
              <a:buSzPct val="100000"/>
              <a:buChar char="■"/>
            </a:pPr>
            <a:r>
              <a:rPr lang="en-US" sz="1300" dirty="0">
                <a:solidFill>
                  <a:srgbClr val="0F172A"/>
                </a:solidFill>
                <a:latin typeface="Calibri" pitchFamily="34" charset="0"/>
                <a:ea typeface="Calibri" pitchFamily="34" charset="-122"/>
                <a:cs typeface="Calibri" pitchFamily="34" charset="-120"/>
              </a:rPr>
              <a:t>Assigns teachers</a:t>
            </a:r>
            <a:endParaRPr lang="en-US" sz="1300" dirty="0"/>
          </a:p>
          <a:p>
            <a:pPr marL="342900" indent="-342900">
              <a:spcAft>
                <a:spcPts val="700"/>
              </a:spcAft>
              <a:buSzPct val="100000"/>
              <a:buChar char="■"/>
            </a:pPr>
            <a:r>
              <a:rPr lang="en-US" sz="1300" dirty="0">
                <a:solidFill>
                  <a:srgbClr val="0F172A"/>
                </a:solidFill>
                <a:latin typeface="Calibri" pitchFamily="34" charset="0"/>
                <a:ea typeface="Calibri" pitchFamily="34" charset="-122"/>
                <a:cs typeface="Calibri" pitchFamily="34" charset="-120"/>
              </a:rPr>
              <a:t>Publishes school notices</a:t>
            </a:r>
            <a:endParaRPr lang="en-US" sz="1300" dirty="0"/>
          </a:p>
        </p:txBody>
      </p:sp>
      <p:sp>
        <p:nvSpPr>
          <p:cNvPr id="12" name="Shape 10"/>
          <p:cNvSpPr/>
          <p:nvPr/>
        </p:nvSpPr>
        <p:spPr>
          <a:xfrm>
            <a:off x="4389120" y="2743200"/>
            <a:ext cx="3383280" cy="310896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13" name="Shape 11"/>
          <p:cNvSpPr/>
          <p:nvPr/>
        </p:nvSpPr>
        <p:spPr>
          <a:xfrm>
            <a:off x="4389120" y="2743200"/>
            <a:ext cx="3383280" cy="109728"/>
          </a:xfrm>
          <a:prstGeom prst="rect">
            <a:avLst/>
          </a:prstGeom>
          <a:solidFill>
            <a:srgbClr val="0EA5E9"/>
          </a:solidFill>
          <a:ln/>
        </p:spPr>
      </p:sp>
      <p:sp>
        <p:nvSpPr>
          <p:cNvPr id="14" name="Shape 12"/>
          <p:cNvSpPr/>
          <p:nvPr/>
        </p:nvSpPr>
        <p:spPr>
          <a:xfrm>
            <a:off x="4709160" y="3063240"/>
            <a:ext cx="822960" cy="822960"/>
          </a:xfrm>
          <a:prstGeom prst="ellipse">
            <a:avLst/>
          </a:prstGeom>
          <a:solidFill>
            <a:srgbClr val="0EA5E9"/>
          </a:solidFill>
          <a:ln/>
        </p:spPr>
      </p:sp>
      <p:sp>
        <p:nvSpPr>
          <p:cNvPr id="15" name="Text 13"/>
          <p:cNvSpPr/>
          <p:nvPr/>
        </p:nvSpPr>
        <p:spPr>
          <a:xfrm>
            <a:off x="4709160" y="3063240"/>
            <a:ext cx="822960" cy="822960"/>
          </a:xfrm>
          <a:prstGeom prst="rect">
            <a:avLst/>
          </a:prstGeom>
          <a:noFill/>
          <a:ln/>
        </p:spPr>
        <p:txBody>
          <a:bodyPr wrap="square" lIns="0" tIns="0" rIns="0" bIns="0" rtlCol="0" anchor="ctr"/>
          <a:lstStyle/>
          <a:p>
            <a:pPr algn="ctr" indent="0" marL="0">
              <a:buNone/>
            </a:pPr>
            <a:r>
              <a:rPr lang="en-US" sz="2520" b="1" dirty="0">
                <a:solidFill>
                  <a:srgbClr val="FFFFFF"/>
                </a:solidFill>
                <a:latin typeface="Georgia" pitchFamily="34" charset="0"/>
                <a:ea typeface="Georgia" pitchFamily="34" charset="-122"/>
                <a:cs typeface="Georgia" pitchFamily="34" charset="-120"/>
              </a:rPr>
              <a:t>T</a:t>
            </a:r>
            <a:endParaRPr lang="en-US" sz="2520" dirty="0"/>
          </a:p>
        </p:txBody>
      </p:sp>
      <p:sp>
        <p:nvSpPr>
          <p:cNvPr id="16" name="Text 14"/>
          <p:cNvSpPr/>
          <p:nvPr/>
        </p:nvSpPr>
        <p:spPr>
          <a:xfrm>
            <a:off x="5669280" y="3108960"/>
            <a:ext cx="2011680" cy="457200"/>
          </a:xfrm>
          <a:prstGeom prst="rect">
            <a:avLst/>
          </a:prstGeom>
          <a:noFill/>
          <a:ln/>
        </p:spPr>
        <p:txBody>
          <a:bodyPr wrap="square" lIns="0" tIns="0" rIns="0" bIns="0" rtlCol="0" anchor="ctr"/>
          <a:lstStyle/>
          <a:p>
            <a:pPr indent="0" marL="0">
              <a:buNone/>
            </a:pPr>
            <a:r>
              <a:rPr lang="en-US" sz="2200" b="1" dirty="0">
                <a:solidFill>
                  <a:srgbClr val="0F172A"/>
                </a:solidFill>
                <a:latin typeface="Georgia" pitchFamily="34" charset="0"/>
                <a:ea typeface="Georgia" pitchFamily="34" charset="-122"/>
                <a:cs typeface="Georgia" pitchFamily="34" charset="-120"/>
              </a:rPr>
              <a:t>Teacher</a:t>
            </a:r>
            <a:endParaRPr lang="en-US" sz="2200" dirty="0"/>
          </a:p>
        </p:txBody>
      </p:sp>
      <p:sp>
        <p:nvSpPr>
          <p:cNvPr id="17" name="Text 15"/>
          <p:cNvSpPr/>
          <p:nvPr/>
        </p:nvSpPr>
        <p:spPr>
          <a:xfrm>
            <a:off x="5669280" y="3566160"/>
            <a:ext cx="2011680" cy="274320"/>
          </a:xfrm>
          <a:prstGeom prst="rect">
            <a:avLst/>
          </a:prstGeom>
          <a:noFill/>
          <a:ln/>
        </p:spPr>
        <p:txBody>
          <a:bodyPr wrap="square" lIns="0" tIns="0" rIns="0" bIns="0" rtlCol="0" anchor="ctr"/>
          <a:lstStyle/>
          <a:p>
            <a:pPr indent="0" marL="0">
              <a:buNone/>
            </a:pPr>
            <a:r>
              <a:rPr lang="en-US" sz="1000" b="1" spc="200" kern="0" dirty="0">
                <a:solidFill>
                  <a:srgbClr val="0EA5E9"/>
                </a:solidFill>
                <a:latin typeface="Calibri" pitchFamily="34" charset="0"/>
                <a:ea typeface="Calibri" pitchFamily="34" charset="-122"/>
                <a:cs typeface="Calibri" pitchFamily="34" charset="-120"/>
              </a:rPr>
              <a:t>ROLE</a:t>
            </a:r>
            <a:endParaRPr lang="en-US" sz="1000" dirty="0"/>
          </a:p>
        </p:txBody>
      </p:sp>
      <p:sp>
        <p:nvSpPr>
          <p:cNvPr id="18" name="Text 16"/>
          <p:cNvSpPr/>
          <p:nvPr/>
        </p:nvSpPr>
        <p:spPr>
          <a:xfrm>
            <a:off x="4709160" y="4160520"/>
            <a:ext cx="2834640" cy="15544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0F172A"/>
                </a:solidFill>
                <a:latin typeface="Calibri" pitchFamily="34" charset="0"/>
                <a:ea typeface="Calibri" pitchFamily="34" charset="-122"/>
                <a:cs typeface="Calibri" pitchFamily="34" charset="-120"/>
              </a:rPr>
              <a:t>Marks daily attendance</a:t>
            </a:r>
            <a:endParaRPr lang="en-US" sz="1300" dirty="0"/>
          </a:p>
          <a:p>
            <a:pPr marL="342900" indent="-342900">
              <a:spcAft>
                <a:spcPts val="700"/>
              </a:spcAft>
              <a:buSzPct val="100000"/>
              <a:buChar char="■"/>
            </a:pPr>
            <a:r>
              <a:rPr lang="en-US" sz="1300" dirty="0">
                <a:solidFill>
                  <a:srgbClr val="0F172A"/>
                </a:solidFill>
                <a:latin typeface="Calibri" pitchFamily="34" charset="0"/>
                <a:ea typeface="Calibri" pitchFamily="34" charset="-122"/>
                <a:cs typeface="Calibri" pitchFamily="34" charset="-120"/>
              </a:rPr>
              <a:t>Assigns homework with files</a:t>
            </a:r>
            <a:endParaRPr lang="en-US" sz="1300" dirty="0"/>
          </a:p>
          <a:p>
            <a:pPr marL="342900" indent="-342900">
              <a:spcAft>
                <a:spcPts val="700"/>
              </a:spcAft>
              <a:buSzPct val="100000"/>
              <a:buChar char="■"/>
            </a:pPr>
            <a:r>
              <a:rPr lang="en-US" sz="1300" dirty="0">
                <a:solidFill>
                  <a:srgbClr val="0F172A"/>
                </a:solidFill>
                <a:latin typeface="Calibri" pitchFamily="34" charset="0"/>
                <a:ea typeface="Calibri" pitchFamily="34" charset="-122"/>
                <a:cs typeface="Calibri" pitchFamily="34" charset="-120"/>
              </a:rPr>
              <a:t>Submits for admin approval</a:t>
            </a:r>
            <a:endParaRPr lang="en-US" sz="1300" dirty="0"/>
          </a:p>
        </p:txBody>
      </p:sp>
      <p:sp>
        <p:nvSpPr>
          <p:cNvPr id="19" name="Shape 17"/>
          <p:cNvSpPr/>
          <p:nvPr/>
        </p:nvSpPr>
        <p:spPr>
          <a:xfrm>
            <a:off x="8183880" y="2743200"/>
            <a:ext cx="3383280" cy="310896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20" name="Shape 18"/>
          <p:cNvSpPr/>
          <p:nvPr/>
        </p:nvSpPr>
        <p:spPr>
          <a:xfrm>
            <a:off x="8183880" y="2743200"/>
            <a:ext cx="3383280" cy="109728"/>
          </a:xfrm>
          <a:prstGeom prst="rect">
            <a:avLst/>
          </a:prstGeom>
          <a:solidFill>
            <a:srgbClr val="F59E0B"/>
          </a:solidFill>
          <a:ln/>
        </p:spPr>
      </p:sp>
      <p:sp>
        <p:nvSpPr>
          <p:cNvPr id="21" name="Shape 19"/>
          <p:cNvSpPr/>
          <p:nvPr/>
        </p:nvSpPr>
        <p:spPr>
          <a:xfrm>
            <a:off x="8503920" y="3063240"/>
            <a:ext cx="822960" cy="822960"/>
          </a:xfrm>
          <a:prstGeom prst="ellipse">
            <a:avLst/>
          </a:prstGeom>
          <a:solidFill>
            <a:srgbClr val="F59E0B"/>
          </a:solidFill>
          <a:ln/>
        </p:spPr>
      </p:sp>
      <p:sp>
        <p:nvSpPr>
          <p:cNvPr id="22" name="Text 20"/>
          <p:cNvSpPr/>
          <p:nvPr/>
        </p:nvSpPr>
        <p:spPr>
          <a:xfrm>
            <a:off x="8503920" y="3063240"/>
            <a:ext cx="822960" cy="822960"/>
          </a:xfrm>
          <a:prstGeom prst="rect">
            <a:avLst/>
          </a:prstGeom>
          <a:noFill/>
          <a:ln/>
        </p:spPr>
        <p:txBody>
          <a:bodyPr wrap="square" lIns="0" tIns="0" rIns="0" bIns="0" rtlCol="0" anchor="ctr"/>
          <a:lstStyle/>
          <a:p>
            <a:pPr algn="ctr" indent="0" marL="0">
              <a:buNone/>
            </a:pPr>
            <a:r>
              <a:rPr lang="en-US" sz="2520" b="1" dirty="0">
                <a:solidFill>
                  <a:srgbClr val="FFFFFF"/>
                </a:solidFill>
                <a:latin typeface="Georgia" pitchFamily="34" charset="0"/>
                <a:ea typeface="Georgia" pitchFamily="34" charset="-122"/>
                <a:cs typeface="Georgia" pitchFamily="34" charset="-120"/>
              </a:rPr>
              <a:t>P</a:t>
            </a:r>
            <a:endParaRPr lang="en-US" sz="2520" dirty="0"/>
          </a:p>
        </p:txBody>
      </p:sp>
      <p:sp>
        <p:nvSpPr>
          <p:cNvPr id="23" name="Text 21"/>
          <p:cNvSpPr/>
          <p:nvPr/>
        </p:nvSpPr>
        <p:spPr>
          <a:xfrm>
            <a:off x="9464040" y="3108960"/>
            <a:ext cx="2011680" cy="457200"/>
          </a:xfrm>
          <a:prstGeom prst="rect">
            <a:avLst/>
          </a:prstGeom>
          <a:noFill/>
          <a:ln/>
        </p:spPr>
        <p:txBody>
          <a:bodyPr wrap="square" lIns="0" tIns="0" rIns="0" bIns="0" rtlCol="0" anchor="ctr"/>
          <a:lstStyle/>
          <a:p>
            <a:pPr indent="0" marL="0">
              <a:buNone/>
            </a:pPr>
            <a:r>
              <a:rPr lang="en-US" sz="2200" b="1" dirty="0">
                <a:solidFill>
                  <a:srgbClr val="0F172A"/>
                </a:solidFill>
                <a:latin typeface="Georgia" pitchFamily="34" charset="0"/>
                <a:ea typeface="Georgia" pitchFamily="34" charset="-122"/>
                <a:cs typeface="Georgia" pitchFamily="34" charset="-120"/>
              </a:rPr>
              <a:t>Parent</a:t>
            </a:r>
            <a:endParaRPr lang="en-US" sz="2200" dirty="0"/>
          </a:p>
        </p:txBody>
      </p:sp>
      <p:sp>
        <p:nvSpPr>
          <p:cNvPr id="24" name="Text 22"/>
          <p:cNvSpPr/>
          <p:nvPr/>
        </p:nvSpPr>
        <p:spPr>
          <a:xfrm>
            <a:off x="9464040" y="3566160"/>
            <a:ext cx="2011680" cy="274320"/>
          </a:xfrm>
          <a:prstGeom prst="rect">
            <a:avLst/>
          </a:prstGeom>
          <a:noFill/>
          <a:ln/>
        </p:spPr>
        <p:txBody>
          <a:bodyPr wrap="square" lIns="0" tIns="0" rIns="0" bIns="0" rtlCol="0" anchor="ctr"/>
          <a:lstStyle/>
          <a:p>
            <a:pPr indent="0" marL="0">
              <a:buNone/>
            </a:pPr>
            <a:r>
              <a:rPr lang="en-US" sz="1000" b="1" spc="200" kern="0" dirty="0">
                <a:solidFill>
                  <a:srgbClr val="F59E0B"/>
                </a:solidFill>
                <a:latin typeface="Calibri" pitchFamily="34" charset="0"/>
                <a:ea typeface="Calibri" pitchFamily="34" charset="-122"/>
                <a:cs typeface="Calibri" pitchFamily="34" charset="-120"/>
              </a:rPr>
              <a:t>ROLE</a:t>
            </a:r>
            <a:endParaRPr lang="en-US" sz="1000" dirty="0"/>
          </a:p>
        </p:txBody>
      </p:sp>
      <p:sp>
        <p:nvSpPr>
          <p:cNvPr id="25" name="Text 23"/>
          <p:cNvSpPr/>
          <p:nvPr/>
        </p:nvSpPr>
        <p:spPr>
          <a:xfrm>
            <a:off x="8503920" y="4160520"/>
            <a:ext cx="2834640" cy="15544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0F172A"/>
                </a:solidFill>
                <a:latin typeface="Calibri" pitchFamily="34" charset="0"/>
                <a:ea typeface="Calibri" pitchFamily="34" charset="-122"/>
                <a:cs typeface="Calibri" pitchFamily="34" charset="-120"/>
              </a:rPr>
              <a:t>Views child's attendance</a:t>
            </a:r>
            <a:endParaRPr lang="en-US" sz="1300" dirty="0"/>
          </a:p>
          <a:p>
            <a:pPr marL="342900" indent="-342900">
              <a:spcAft>
                <a:spcPts val="700"/>
              </a:spcAft>
              <a:buSzPct val="100000"/>
              <a:buChar char="■"/>
            </a:pPr>
            <a:r>
              <a:rPr lang="en-US" sz="1300" dirty="0">
                <a:solidFill>
                  <a:srgbClr val="0F172A"/>
                </a:solidFill>
                <a:latin typeface="Calibri" pitchFamily="34" charset="0"/>
                <a:ea typeface="Calibri" pitchFamily="34" charset="-122"/>
                <a:cs typeface="Calibri" pitchFamily="34" charset="-120"/>
              </a:rPr>
              <a:t>Reads homework &amp; notices</a:t>
            </a:r>
            <a:endParaRPr lang="en-US" sz="1300" dirty="0"/>
          </a:p>
          <a:p>
            <a:pPr marL="342900" indent="-342900">
              <a:spcAft>
                <a:spcPts val="700"/>
              </a:spcAft>
              <a:buSzPct val="100000"/>
              <a:buChar char="■"/>
            </a:pPr>
            <a:r>
              <a:rPr lang="en-US" sz="1300" dirty="0">
                <a:solidFill>
                  <a:srgbClr val="0F172A"/>
                </a:solidFill>
                <a:latin typeface="Calibri" pitchFamily="34" charset="0"/>
                <a:ea typeface="Calibri" pitchFamily="34" charset="-122"/>
                <a:cs typeface="Calibri" pitchFamily="34" charset="-120"/>
              </a:rPr>
              <a:t>Applies for leave</a:t>
            </a:r>
            <a:endParaRPr lang="en-US" sz="1300" dirty="0"/>
          </a:p>
        </p:txBody>
      </p:sp>
      <p:sp>
        <p:nvSpPr>
          <p:cNvPr id="26" name="Shape 24"/>
          <p:cNvSpPr/>
          <p:nvPr/>
        </p:nvSpPr>
        <p:spPr>
          <a:xfrm>
            <a:off x="3977640" y="3474720"/>
            <a:ext cx="411480" cy="0"/>
          </a:xfrm>
          <a:prstGeom prst="line">
            <a:avLst/>
          </a:prstGeom>
          <a:noFill/>
          <a:ln w="22225">
            <a:solidFill>
              <a:srgbClr val="64748B"/>
            </a:solidFill>
            <a:prstDash val="dash"/>
            <a:tailEnd type="triangle"/>
          </a:ln>
        </p:spPr>
      </p:sp>
      <p:sp>
        <p:nvSpPr>
          <p:cNvPr id="27" name="Shape 25"/>
          <p:cNvSpPr/>
          <p:nvPr/>
        </p:nvSpPr>
        <p:spPr>
          <a:xfrm>
            <a:off x="7772400" y="3474720"/>
            <a:ext cx="411480" cy="0"/>
          </a:xfrm>
          <a:prstGeom prst="line">
            <a:avLst/>
          </a:prstGeom>
          <a:noFill/>
          <a:ln w="22225">
            <a:solidFill>
              <a:srgbClr val="64748B"/>
            </a:solidFill>
            <a:prstDash val="dash"/>
            <a:tailEnd type="triangle"/>
          </a:ln>
        </p:spPr>
      </p:sp>
      <p:sp>
        <p:nvSpPr>
          <p:cNvPr id="28" name="Text 26"/>
          <p:cNvSpPr/>
          <p:nvPr/>
        </p:nvSpPr>
        <p:spPr>
          <a:xfrm>
            <a:off x="640080" y="5989320"/>
            <a:ext cx="10972800" cy="365760"/>
          </a:xfrm>
          <a:prstGeom prst="rect">
            <a:avLst/>
          </a:prstGeom>
          <a:noFill/>
          <a:ln/>
        </p:spPr>
        <p:txBody>
          <a:bodyPr wrap="square" lIns="0" tIns="0" rIns="0" bIns="0" rtlCol="0" anchor="ctr"/>
          <a:lstStyle/>
          <a:p>
            <a:pPr indent="0" marL="0">
              <a:buNone/>
            </a:pPr>
            <a:r>
              <a:rPr lang="en-US" sz="1200" i="1" dirty="0">
                <a:solidFill>
                  <a:srgbClr val="1E3A8A"/>
                </a:solidFill>
                <a:latin typeface="Georgia" pitchFamily="34" charset="0"/>
                <a:ea typeface="Georgia" pitchFamily="34" charset="-122"/>
                <a:cs typeface="Georgia" pitchFamily="34" charset="-120"/>
              </a:rPr>
              <a:t>Every action is timestamped, role-permissioned, and auditable — no more "I didn't get the message".</a:t>
            </a:r>
            <a:endParaRPr lang="en-US" sz="1200" dirty="0"/>
          </a:p>
        </p:txBody>
      </p:sp>
      <p:sp>
        <p:nvSpPr>
          <p:cNvPr id="29" name="Shape 27"/>
          <p:cNvSpPr/>
          <p:nvPr/>
        </p:nvSpPr>
        <p:spPr>
          <a:xfrm>
            <a:off x="457200" y="6446520"/>
            <a:ext cx="11247120" cy="0"/>
          </a:xfrm>
          <a:prstGeom prst="line">
            <a:avLst/>
          </a:prstGeom>
          <a:noFill/>
          <a:ln w="9525">
            <a:solidFill>
              <a:srgbClr val="E2E8F0"/>
            </a:solidFill>
            <a:prstDash val="solid"/>
          </a:ln>
        </p:spPr>
      </p:sp>
      <p:sp>
        <p:nvSpPr>
          <p:cNvPr id="30" name="Text 28"/>
          <p:cNvSpPr/>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EduConnect  |  FBT — Future Beyond Technology</a:t>
            </a:r>
            <a:endParaRPr lang="en-US" sz="900" dirty="0"/>
          </a:p>
        </p:txBody>
      </p:sp>
      <p:sp>
        <p:nvSpPr>
          <p:cNvPr id="31" name="Text 29"/>
          <p:cNvSpPr/>
          <p:nvPr/>
        </p:nvSpPr>
        <p:spPr>
          <a:xfrm>
            <a:off x="10972800" y="653796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E3A8A"/>
          </a:solidFill>
          <a:ln/>
        </p:spPr>
      </p:sp>
      <p:sp>
        <p:nvSpPr>
          <p:cNvPr id="3" name="Text 1"/>
          <p:cNvSpPr/>
          <p:nvPr/>
        </p:nvSpPr>
        <p:spPr>
          <a:xfrm>
            <a:off x="640080" y="640080"/>
            <a:ext cx="9144000" cy="274320"/>
          </a:xfrm>
          <a:prstGeom prst="rect">
            <a:avLst/>
          </a:prstGeom>
          <a:noFill/>
          <a:ln/>
        </p:spPr>
        <p:txBody>
          <a:bodyPr wrap="square" lIns="0" tIns="0" rIns="0" bIns="0" rtlCol="0" anchor="ctr"/>
          <a:lstStyle/>
          <a:p>
            <a:pPr indent="0" marL="0">
              <a:buNone/>
            </a:pPr>
            <a:r>
              <a:rPr lang="en-US" sz="1100" b="1" spc="400" kern="0" dirty="0">
                <a:solidFill>
                  <a:srgbClr val="1E3A8A"/>
                </a:solidFill>
                <a:latin typeface="Calibri" pitchFamily="34" charset="0"/>
                <a:ea typeface="Calibri" pitchFamily="34" charset="-122"/>
                <a:cs typeface="Calibri" pitchFamily="34" charset="-120"/>
              </a:rPr>
              <a:t>FOR THE ADMIN</a:t>
            </a:r>
            <a:endParaRPr lang="en-US" sz="1100" dirty="0"/>
          </a:p>
        </p:txBody>
      </p:sp>
      <p:sp>
        <p:nvSpPr>
          <p:cNvPr id="4" name="Text 2"/>
          <p:cNvSpPr/>
          <p:nvPr/>
        </p:nvSpPr>
        <p:spPr>
          <a:xfrm>
            <a:off x="640080" y="960120"/>
            <a:ext cx="9601200" cy="1188720"/>
          </a:xfrm>
          <a:prstGeom prst="rect">
            <a:avLst/>
          </a:prstGeom>
          <a:noFill/>
          <a:ln/>
        </p:spPr>
        <p:txBody>
          <a:bodyPr wrap="square" lIns="0" tIns="0" rIns="0" bIns="0" rtlCol="0" anchor="t"/>
          <a:lstStyle/>
          <a:p>
            <a:pPr indent="0" marL="0">
              <a:buNone/>
            </a:pPr>
            <a:r>
              <a:rPr lang="en-US" sz="3000" b="1" dirty="0">
                <a:solidFill>
                  <a:srgbClr val="0F172A"/>
                </a:solidFill>
                <a:latin typeface="Georgia" pitchFamily="34" charset="0"/>
                <a:ea typeface="Georgia" pitchFamily="34" charset="-122"/>
                <a:cs typeface="Georgia" pitchFamily="34" charset="-120"/>
              </a:rPr>
              <a:t>Run your whole school from one dashboard.</a:t>
            </a:r>
            <a:endParaRPr lang="en-US" sz="3000" dirty="0"/>
          </a:p>
        </p:txBody>
      </p:sp>
      <p:sp>
        <p:nvSpPr>
          <p:cNvPr id="5" name="Shape 3"/>
          <p:cNvSpPr/>
          <p:nvPr/>
        </p:nvSpPr>
        <p:spPr>
          <a:xfrm>
            <a:off x="10607040" y="548640"/>
            <a:ext cx="1188720" cy="1188720"/>
          </a:xfrm>
          <a:prstGeom prst="ellipse">
            <a:avLst/>
          </a:prstGeom>
          <a:solidFill>
            <a:srgbClr val="1E3A8A"/>
          </a:solidFill>
          <a:ln/>
        </p:spPr>
      </p:sp>
      <p:sp>
        <p:nvSpPr>
          <p:cNvPr id="6" name="Text 4"/>
          <p:cNvSpPr/>
          <p:nvPr/>
        </p:nvSpPr>
        <p:spPr>
          <a:xfrm>
            <a:off x="10607040" y="548640"/>
            <a:ext cx="1188720" cy="1188720"/>
          </a:xfrm>
          <a:prstGeom prst="rect">
            <a:avLst/>
          </a:prstGeom>
          <a:noFill/>
          <a:ln/>
        </p:spPr>
        <p:txBody>
          <a:bodyPr wrap="square" lIns="0" tIns="0" rIns="0" bIns="0" rtlCol="0" anchor="ctr"/>
          <a:lstStyle/>
          <a:p>
            <a:pPr algn="ctr" indent="0" marL="0">
              <a:buNone/>
            </a:pPr>
            <a:r>
              <a:rPr lang="en-US" sz="5200" b="1" dirty="0">
                <a:solidFill>
                  <a:srgbClr val="FFFFFF"/>
                </a:solidFill>
                <a:latin typeface="Georgia" pitchFamily="34" charset="0"/>
                <a:ea typeface="Georgia" pitchFamily="34" charset="-122"/>
                <a:cs typeface="Georgia" pitchFamily="34" charset="-120"/>
              </a:rPr>
              <a:t>A</a:t>
            </a:r>
            <a:endParaRPr lang="en-US" sz="5200" dirty="0"/>
          </a:p>
        </p:txBody>
      </p:sp>
      <p:sp>
        <p:nvSpPr>
          <p:cNvPr id="7" name="Text 5"/>
          <p:cNvSpPr/>
          <p:nvPr/>
        </p:nvSpPr>
        <p:spPr>
          <a:xfrm>
            <a:off x="640080" y="2240280"/>
            <a:ext cx="9601200" cy="54864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Designed for principals, office staff, and academic coordinators — the people who need a top-down view and the tools to keep the school moving.</a:t>
            </a:r>
            <a:endParaRPr lang="en-US" sz="1300" dirty="0"/>
          </a:p>
        </p:txBody>
      </p:sp>
      <p:sp>
        <p:nvSpPr>
          <p:cNvPr id="8" name="Shape 6"/>
          <p:cNvSpPr/>
          <p:nvPr/>
        </p:nvSpPr>
        <p:spPr>
          <a:xfrm>
            <a:off x="640080" y="2926080"/>
            <a:ext cx="3611880" cy="173736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9" name="Shape 7"/>
          <p:cNvSpPr/>
          <p:nvPr/>
        </p:nvSpPr>
        <p:spPr>
          <a:xfrm>
            <a:off x="640080" y="2926080"/>
            <a:ext cx="73152" cy="1737360"/>
          </a:xfrm>
          <a:prstGeom prst="rect">
            <a:avLst/>
          </a:prstGeom>
          <a:solidFill>
            <a:srgbClr val="1E3A8A"/>
          </a:solidFill>
          <a:ln/>
        </p:spPr>
      </p:sp>
      <p:sp>
        <p:nvSpPr>
          <p:cNvPr id="10" name="Text 8"/>
          <p:cNvSpPr/>
          <p:nvPr/>
        </p:nvSpPr>
        <p:spPr>
          <a:xfrm>
            <a:off x="868680" y="3090672"/>
            <a:ext cx="3246120" cy="411480"/>
          </a:xfrm>
          <a:prstGeom prst="rect">
            <a:avLst/>
          </a:prstGeom>
          <a:noFill/>
          <a:ln/>
        </p:spPr>
        <p:txBody>
          <a:bodyPr wrap="square" lIns="0" tIns="0" rIns="0" bIns="0" rtlCol="0" anchor="t"/>
          <a:lstStyle/>
          <a:p>
            <a:pPr indent="0" marL="0">
              <a:buNone/>
            </a:pPr>
            <a:r>
              <a:rPr lang="en-US" sz="1600" b="1" dirty="0">
                <a:solidFill>
                  <a:srgbClr val="0F172A"/>
                </a:solidFill>
                <a:latin typeface="Georgia" pitchFamily="34" charset="0"/>
                <a:ea typeface="Georgia" pitchFamily="34" charset="-122"/>
                <a:cs typeface="Georgia" pitchFamily="34" charset="-120"/>
              </a:rPr>
              <a:t>Publish Notices</a:t>
            </a:r>
            <a:endParaRPr lang="en-US" sz="1600" dirty="0"/>
          </a:p>
        </p:txBody>
      </p:sp>
      <p:sp>
        <p:nvSpPr>
          <p:cNvPr id="11" name="Text 9"/>
          <p:cNvSpPr/>
          <p:nvPr/>
        </p:nvSpPr>
        <p:spPr>
          <a:xfrm>
            <a:off x="868680" y="3566160"/>
            <a:ext cx="3246120" cy="960120"/>
          </a:xfrm>
          <a:prstGeom prst="rect">
            <a:avLst/>
          </a:prstGeom>
          <a:noFill/>
          <a:ln/>
        </p:spPr>
        <p:txBody>
          <a:bodyPr wrap="square" lIns="0" tIns="0" rIns="0" bIns="0" rtlCol="0" anchor="t"/>
          <a:lstStyle/>
          <a:p>
            <a:pPr indent="0" marL="0">
              <a:spcAft>
                <a:spcPts val="400"/>
              </a:spcAft>
              <a:buNone/>
            </a:pPr>
            <a:r>
              <a:rPr lang="en-US" sz="1200" dirty="0">
                <a:solidFill>
                  <a:srgbClr val="64748B"/>
                </a:solidFill>
                <a:latin typeface="Calibri" pitchFamily="34" charset="0"/>
                <a:ea typeface="Calibri" pitchFamily="34" charset="-122"/>
                <a:cs typeface="Calibri" pitchFamily="34" charset="-120"/>
              </a:rPr>
              <a:t>Send notices to the whole school, a specific class, or a section. Attach PDFs. Set expiry dates.</a:t>
            </a:r>
            <a:endParaRPr lang="en-US" sz="1200" dirty="0"/>
          </a:p>
        </p:txBody>
      </p:sp>
      <p:sp>
        <p:nvSpPr>
          <p:cNvPr id="12" name="Shape 10"/>
          <p:cNvSpPr/>
          <p:nvPr/>
        </p:nvSpPr>
        <p:spPr>
          <a:xfrm>
            <a:off x="4434840" y="2926080"/>
            <a:ext cx="3611880" cy="173736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13" name="Shape 11"/>
          <p:cNvSpPr/>
          <p:nvPr/>
        </p:nvSpPr>
        <p:spPr>
          <a:xfrm>
            <a:off x="4434840" y="2926080"/>
            <a:ext cx="73152" cy="1737360"/>
          </a:xfrm>
          <a:prstGeom prst="rect">
            <a:avLst/>
          </a:prstGeom>
          <a:solidFill>
            <a:srgbClr val="1E3A8A"/>
          </a:solidFill>
          <a:ln/>
        </p:spPr>
      </p:sp>
      <p:sp>
        <p:nvSpPr>
          <p:cNvPr id="14" name="Text 12"/>
          <p:cNvSpPr/>
          <p:nvPr/>
        </p:nvSpPr>
        <p:spPr>
          <a:xfrm>
            <a:off x="4663440" y="3090672"/>
            <a:ext cx="3246120" cy="411480"/>
          </a:xfrm>
          <a:prstGeom prst="rect">
            <a:avLst/>
          </a:prstGeom>
          <a:noFill/>
          <a:ln/>
        </p:spPr>
        <p:txBody>
          <a:bodyPr wrap="square" lIns="0" tIns="0" rIns="0" bIns="0" rtlCol="0" anchor="t"/>
          <a:lstStyle/>
          <a:p>
            <a:pPr indent="0" marL="0">
              <a:buNone/>
            </a:pPr>
            <a:r>
              <a:rPr lang="en-US" sz="1600" b="1" dirty="0">
                <a:solidFill>
                  <a:srgbClr val="0F172A"/>
                </a:solidFill>
                <a:latin typeface="Georgia" pitchFamily="34" charset="0"/>
                <a:ea typeface="Georgia" pitchFamily="34" charset="-122"/>
                <a:cs typeface="Georgia" pitchFamily="34" charset="-120"/>
              </a:rPr>
              <a:t>Enroll Students</a:t>
            </a:r>
            <a:endParaRPr lang="en-US" sz="1600" dirty="0"/>
          </a:p>
        </p:txBody>
      </p:sp>
      <p:sp>
        <p:nvSpPr>
          <p:cNvPr id="15" name="Text 13"/>
          <p:cNvSpPr/>
          <p:nvPr/>
        </p:nvSpPr>
        <p:spPr>
          <a:xfrm>
            <a:off x="4663440" y="3566160"/>
            <a:ext cx="3246120" cy="960120"/>
          </a:xfrm>
          <a:prstGeom prst="rect">
            <a:avLst/>
          </a:prstGeom>
          <a:noFill/>
          <a:ln/>
        </p:spPr>
        <p:txBody>
          <a:bodyPr wrap="square" lIns="0" tIns="0" rIns="0" bIns="0" rtlCol="0" anchor="t"/>
          <a:lstStyle/>
          <a:p>
            <a:pPr indent="0" marL="0">
              <a:spcAft>
                <a:spcPts val="400"/>
              </a:spcAft>
              <a:buNone/>
            </a:pPr>
            <a:r>
              <a:rPr lang="en-US" sz="1200" dirty="0">
                <a:solidFill>
                  <a:srgbClr val="64748B"/>
                </a:solidFill>
                <a:latin typeface="Calibri" pitchFamily="34" charset="0"/>
                <a:ea typeface="Calibri" pitchFamily="34" charset="-122"/>
                <a:cs typeface="Calibri" pitchFamily="34" charset="-120"/>
              </a:rPr>
              <a:t>Add students with name, roll number, and class. Link parents via phone. Deactivate when needed.</a:t>
            </a:r>
            <a:endParaRPr lang="en-US" sz="1200" dirty="0"/>
          </a:p>
        </p:txBody>
      </p:sp>
      <p:sp>
        <p:nvSpPr>
          <p:cNvPr id="16" name="Shape 14"/>
          <p:cNvSpPr/>
          <p:nvPr/>
        </p:nvSpPr>
        <p:spPr>
          <a:xfrm>
            <a:off x="8229600" y="2926080"/>
            <a:ext cx="3611880" cy="173736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17" name="Shape 15"/>
          <p:cNvSpPr/>
          <p:nvPr/>
        </p:nvSpPr>
        <p:spPr>
          <a:xfrm>
            <a:off x="8229600" y="2926080"/>
            <a:ext cx="73152" cy="1737360"/>
          </a:xfrm>
          <a:prstGeom prst="rect">
            <a:avLst/>
          </a:prstGeom>
          <a:solidFill>
            <a:srgbClr val="1E3A8A"/>
          </a:solidFill>
          <a:ln/>
        </p:spPr>
      </p:sp>
      <p:sp>
        <p:nvSpPr>
          <p:cNvPr id="18" name="Text 16"/>
          <p:cNvSpPr/>
          <p:nvPr/>
        </p:nvSpPr>
        <p:spPr>
          <a:xfrm>
            <a:off x="8458200" y="3090672"/>
            <a:ext cx="3246120" cy="411480"/>
          </a:xfrm>
          <a:prstGeom prst="rect">
            <a:avLst/>
          </a:prstGeom>
          <a:noFill/>
          <a:ln/>
        </p:spPr>
        <p:txBody>
          <a:bodyPr wrap="square" lIns="0" tIns="0" rIns="0" bIns="0" rtlCol="0" anchor="t"/>
          <a:lstStyle/>
          <a:p>
            <a:pPr indent="0" marL="0">
              <a:buNone/>
            </a:pPr>
            <a:r>
              <a:rPr lang="en-US" sz="1600" b="1" dirty="0">
                <a:solidFill>
                  <a:srgbClr val="0F172A"/>
                </a:solidFill>
                <a:latin typeface="Georgia" pitchFamily="34" charset="0"/>
                <a:ea typeface="Georgia" pitchFamily="34" charset="-122"/>
                <a:cs typeface="Georgia" pitchFamily="34" charset="-120"/>
              </a:rPr>
              <a:t>Manage Teachers</a:t>
            </a:r>
            <a:endParaRPr lang="en-US" sz="1600" dirty="0"/>
          </a:p>
        </p:txBody>
      </p:sp>
      <p:sp>
        <p:nvSpPr>
          <p:cNvPr id="19" name="Text 17"/>
          <p:cNvSpPr/>
          <p:nvPr/>
        </p:nvSpPr>
        <p:spPr>
          <a:xfrm>
            <a:off x="8458200" y="3566160"/>
            <a:ext cx="3246120" cy="960120"/>
          </a:xfrm>
          <a:prstGeom prst="rect">
            <a:avLst/>
          </a:prstGeom>
          <a:noFill/>
          <a:ln/>
        </p:spPr>
        <p:txBody>
          <a:bodyPr wrap="square" lIns="0" tIns="0" rIns="0" bIns="0" rtlCol="0" anchor="t"/>
          <a:lstStyle/>
          <a:p>
            <a:pPr indent="0" marL="0">
              <a:spcAft>
                <a:spcPts val="400"/>
              </a:spcAft>
              <a:buNone/>
            </a:pPr>
            <a:r>
              <a:rPr lang="en-US" sz="1200" dirty="0">
                <a:solidFill>
                  <a:srgbClr val="64748B"/>
                </a:solidFill>
                <a:latin typeface="Calibri" pitchFamily="34" charset="0"/>
                <a:ea typeface="Calibri" pitchFamily="34" charset="-122"/>
                <a:cs typeface="Calibri" pitchFamily="34" charset="-120"/>
              </a:rPr>
              <a:t>Onboard teachers, assign them to classes and subjects, promote a class teacher, or reassign.</a:t>
            </a:r>
            <a:endParaRPr lang="en-US" sz="1200" dirty="0"/>
          </a:p>
        </p:txBody>
      </p:sp>
      <p:sp>
        <p:nvSpPr>
          <p:cNvPr id="20" name="Shape 18"/>
          <p:cNvSpPr/>
          <p:nvPr/>
        </p:nvSpPr>
        <p:spPr>
          <a:xfrm>
            <a:off x="640080" y="4846320"/>
            <a:ext cx="3611880" cy="173736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21" name="Shape 19"/>
          <p:cNvSpPr/>
          <p:nvPr/>
        </p:nvSpPr>
        <p:spPr>
          <a:xfrm>
            <a:off x="640080" y="4846320"/>
            <a:ext cx="73152" cy="1737360"/>
          </a:xfrm>
          <a:prstGeom prst="rect">
            <a:avLst/>
          </a:prstGeom>
          <a:solidFill>
            <a:srgbClr val="1E3A8A"/>
          </a:solidFill>
          <a:ln/>
        </p:spPr>
      </p:sp>
      <p:sp>
        <p:nvSpPr>
          <p:cNvPr id="22" name="Text 20"/>
          <p:cNvSpPr/>
          <p:nvPr/>
        </p:nvSpPr>
        <p:spPr>
          <a:xfrm>
            <a:off x="868680" y="5010912"/>
            <a:ext cx="3246120" cy="411480"/>
          </a:xfrm>
          <a:prstGeom prst="rect">
            <a:avLst/>
          </a:prstGeom>
          <a:noFill/>
          <a:ln/>
        </p:spPr>
        <p:txBody>
          <a:bodyPr wrap="square" lIns="0" tIns="0" rIns="0" bIns="0" rtlCol="0" anchor="t"/>
          <a:lstStyle/>
          <a:p>
            <a:pPr indent="0" marL="0">
              <a:buNone/>
            </a:pPr>
            <a:r>
              <a:rPr lang="en-US" sz="1600" b="1" dirty="0">
                <a:solidFill>
                  <a:srgbClr val="0F172A"/>
                </a:solidFill>
                <a:latin typeface="Georgia" pitchFamily="34" charset="0"/>
                <a:ea typeface="Georgia" pitchFamily="34" charset="-122"/>
                <a:cs typeface="Georgia" pitchFamily="34" charset="-120"/>
              </a:rPr>
              <a:t>Class &amp; Subject Catalog</a:t>
            </a:r>
            <a:endParaRPr lang="en-US" sz="1600" dirty="0"/>
          </a:p>
        </p:txBody>
      </p:sp>
      <p:sp>
        <p:nvSpPr>
          <p:cNvPr id="23" name="Text 21"/>
          <p:cNvSpPr/>
          <p:nvPr/>
        </p:nvSpPr>
        <p:spPr>
          <a:xfrm>
            <a:off x="868680" y="5486400"/>
            <a:ext cx="3246120" cy="960120"/>
          </a:xfrm>
          <a:prstGeom prst="rect">
            <a:avLst/>
          </a:prstGeom>
          <a:noFill/>
          <a:ln/>
        </p:spPr>
        <p:txBody>
          <a:bodyPr wrap="square" lIns="0" tIns="0" rIns="0" bIns="0" rtlCol="0" anchor="t"/>
          <a:lstStyle/>
          <a:p>
            <a:pPr indent="0" marL="0">
              <a:spcAft>
                <a:spcPts val="400"/>
              </a:spcAft>
              <a:buNone/>
            </a:pPr>
            <a:r>
              <a:rPr lang="en-US" sz="1200" dirty="0">
                <a:solidFill>
                  <a:srgbClr val="64748B"/>
                </a:solidFill>
                <a:latin typeface="Calibri" pitchFamily="34" charset="0"/>
                <a:ea typeface="Calibri" pitchFamily="34" charset="-122"/>
                <a:cs typeface="Calibri" pitchFamily="34" charset="-120"/>
              </a:rPr>
              <a:t>Define academic year, sections, and the subject list that teachers pull from.</a:t>
            </a:r>
            <a:endParaRPr lang="en-US" sz="1200" dirty="0"/>
          </a:p>
        </p:txBody>
      </p:sp>
      <p:sp>
        <p:nvSpPr>
          <p:cNvPr id="24" name="Shape 22"/>
          <p:cNvSpPr/>
          <p:nvPr/>
        </p:nvSpPr>
        <p:spPr>
          <a:xfrm>
            <a:off x="4434840" y="4846320"/>
            <a:ext cx="3611880" cy="173736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25" name="Shape 23"/>
          <p:cNvSpPr/>
          <p:nvPr/>
        </p:nvSpPr>
        <p:spPr>
          <a:xfrm>
            <a:off x="4434840" y="4846320"/>
            <a:ext cx="73152" cy="1737360"/>
          </a:xfrm>
          <a:prstGeom prst="rect">
            <a:avLst/>
          </a:prstGeom>
          <a:solidFill>
            <a:srgbClr val="1E3A8A"/>
          </a:solidFill>
          <a:ln/>
        </p:spPr>
      </p:sp>
      <p:sp>
        <p:nvSpPr>
          <p:cNvPr id="26" name="Text 24"/>
          <p:cNvSpPr/>
          <p:nvPr/>
        </p:nvSpPr>
        <p:spPr>
          <a:xfrm>
            <a:off x="4663440" y="5010912"/>
            <a:ext cx="3246120" cy="411480"/>
          </a:xfrm>
          <a:prstGeom prst="rect">
            <a:avLst/>
          </a:prstGeom>
          <a:noFill/>
          <a:ln/>
        </p:spPr>
        <p:txBody>
          <a:bodyPr wrap="square" lIns="0" tIns="0" rIns="0" bIns="0" rtlCol="0" anchor="t"/>
          <a:lstStyle/>
          <a:p>
            <a:pPr indent="0" marL="0">
              <a:buNone/>
            </a:pPr>
            <a:r>
              <a:rPr lang="en-US" sz="1600" b="1" dirty="0">
                <a:solidFill>
                  <a:srgbClr val="0F172A"/>
                </a:solidFill>
                <a:latin typeface="Georgia" pitchFamily="34" charset="0"/>
                <a:ea typeface="Georgia" pitchFamily="34" charset="-122"/>
                <a:cs typeface="Georgia" pitchFamily="34" charset="-120"/>
              </a:rPr>
              <a:t>Approve Homework</a:t>
            </a:r>
            <a:endParaRPr lang="en-US" sz="1600" dirty="0"/>
          </a:p>
        </p:txBody>
      </p:sp>
      <p:sp>
        <p:nvSpPr>
          <p:cNvPr id="27" name="Text 25"/>
          <p:cNvSpPr/>
          <p:nvPr/>
        </p:nvSpPr>
        <p:spPr>
          <a:xfrm>
            <a:off x="4663440" y="5486400"/>
            <a:ext cx="3246120" cy="960120"/>
          </a:xfrm>
          <a:prstGeom prst="rect">
            <a:avLst/>
          </a:prstGeom>
          <a:noFill/>
          <a:ln/>
        </p:spPr>
        <p:txBody>
          <a:bodyPr wrap="square" lIns="0" tIns="0" rIns="0" bIns="0" rtlCol="0" anchor="t"/>
          <a:lstStyle/>
          <a:p>
            <a:pPr indent="0" marL="0">
              <a:spcAft>
                <a:spcPts val="400"/>
              </a:spcAft>
              <a:buNone/>
            </a:pPr>
            <a:r>
              <a:rPr lang="en-US" sz="1200" dirty="0">
                <a:solidFill>
                  <a:srgbClr val="64748B"/>
                </a:solidFill>
                <a:latin typeface="Calibri" pitchFamily="34" charset="0"/>
                <a:ea typeface="Calibri" pitchFamily="34" charset="-122"/>
                <a:cs typeface="Calibri" pitchFamily="34" charset="-120"/>
              </a:rPr>
              <a:t>Review homework submitted by teachers. Approve for publication or send back for edits.</a:t>
            </a:r>
            <a:endParaRPr lang="en-US" sz="1200" dirty="0"/>
          </a:p>
        </p:txBody>
      </p:sp>
      <p:sp>
        <p:nvSpPr>
          <p:cNvPr id="28" name="Shape 26"/>
          <p:cNvSpPr/>
          <p:nvPr/>
        </p:nvSpPr>
        <p:spPr>
          <a:xfrm>
            <a:off x="8229600" y="4846320"/>
            <a:ext cx="3611880" cy="173736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29" name="Shape 27"/>
          <p:cNvSpPr/>
          <p:nvPr/>
        </p:nvSpPr>
        <p:spPr>
          <a:xfrm>
            <a:off x="8229600" y="4846320"/>
            <a:ext cx="73152" cy="1737360"/>
          </a:xfrm>
          <a:prstGeom prst="rect">
            <a:avLst/>
          </a:prstGeom>
          <a:solidFill>
            <a:srgbClr val="1E3A8A"/>
          </a:solidFill>
          <a:ln/>
        </p:spPr>
      </p:sp>
      <p:sp>
        <p:nvSpPr>
          <p:cNvPr id="30" name="Text 28"/>
          <p:cNvSpPr/>
          <p:nvPr/>
        </p:nvSpPr>
        <p:spPr>
          <a:xfrm>
            <a:off x="8458200" y="5010912"/>
            <a:ext cx="3246120" cy="411480"/>
          </a:xfrm>
          <a:prstGeom prst="rect">
            <a:avLst/>
          </a:prstGeom>
          <a:noFill/>
          <a:ln/>
        </p:spPr>
        <p:txBody>
          <a:bodyPr wrap="square" lIns="0" tIns="0" rIns="0" bIns="0" rtlCol="0" anchor="t"/>
          <a:lstStyle/>
          <a:p>
            <a:pPr indent="0" marL="0">
              <a:buNone/>
            </a:pPr>
            <a:r>
              <a:rPr lang="en-US" sz="1600" b="1" dirty="0">
                <a:solidFill>
                  <a:srgbClr val="0F172A"/>
                </a:solidFill>
                <a:latin typeface="Georgia" pitchFamily="34" charset="0"/>
                <a:ea typeface="Georgia" pitchFamily="34" charset="-122"/>
                <a:cs typeface="Georgia" pitchFamily="34" charset="-120"/>
              </a:rPr>
              <a:t>Override Attendance</a:t>
            </a:r>
            <a:endParaRPr lang="en-US" sz="1600" dirty="0"/>
          </a:p>
        </p:txBody>
      </p:sp>
      <p:sp>
        <p:nvSpPr>
          <p:cNvPr id="31" name="Text 29"/>
          <p:cNvSpPr/>
          <p:nvPr/>
        </p:nvSpPr>
        <p:spPr>
          <a:xfrm>
            <a:off x="8458200" y="5486400"/>
            <a:ext cx="3246120" cy="960120"/>
          </a:xfrm>
          <a:prstGeom prst="rect">
            <a:avLst/>
          </a:prstGeom>
          <a:noFill/>
          <a:ln/>
        </p:spPr>
        <p:txBody>
          <a:bodyPr wrap="square" lIns="0" tIns="0" rIns="0" bIns="0" rtlCol="0" anchor="t"/>
          <a:lstStyle/>
          <a:p>
            <a:pPr indent="0" marL="0">
              <a:spcAft>
                <a:spcPts val="400"/>
              </a:spcAft>
              <a:buNone/>
            </a:pPr>
            <a:r>
              <a:rPr lang="en-US" sz="1200" dirty="0">
                <a:solidFill>
                  <a:srgbClr val="64748B"/>
                </a:solidFill>
                <a:latin typeface="Calibri" pitchFamily="34" charset="0"/>
                <a:ea typeface="Calibri" pitchFamily="34" charset="-122"/>
                <a:cs typeface="Calibri" pitchFamily="34" charset="-120"/>
              </a:rPr>
              <a:t>When a student was marked absent by mistake, admins have the authority to correct the record.</a:t>
            </a:r>
            <a:endParaRPr lang="en-US" sz="1200" dirty="0"/>
          </a:p>
        </p:txBody>
      </p:sp>
      <p:sp>
        <p:nvSpPr>
          <p:cNvPr id="32" name="Shape 30"/>
          <p:cNvSpPr/>
          <p:nvPr/>
        </p:nvSpPr>
        <p:spPr>
          <a:xfrm>
            <a:off x="457200" y="6446520"/>
            <a:ext cx="11247120" cy="0"/>
          </a:xfrm>
          <a:prstGeom prst="line">
            <a:avLst/>
          </a:prstGeom>
          <a:noFill/>
          <a:ln w="9525">
            <a:solidFill>
              <a:srgbClr val="E2E8F0"/>
            </a:solidFill>
            <a:prstDash val="solid"/>
          </a:ln>
        </p:spPr>
      </p:sp>
      <p:sp>
        <p:nvSpPr>
          <p:cNvPr id="33" name="Text 31"/>
          <p:cNvSpPr/>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EduConnect  |  FBT — Future Beyond Technology</a:t>
            </a:r>
            <a:endParaRPr lang="en-US" sz="900" dirty="0"/>
          </a:p>
        </p:txBody>
      </p:sp>
      <p:sp>
        <p:nvSpPr>
          <p:cNvPr id="34" name="Text 32"/>
          <p:cNvSpPr/>
          <p:nvPr/>
        </p:nvSpPr>
        <p:spPr>
          <a:xfrm>
            <a:off x="10972800" y="653796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EA5E9"/>
          </a:solidFill>
          <a:ln/>
        </p:spPr>
      </p:sp>
      <p:sp>
        <p:nvSpPr>
          <p:cNvPr id="3" name="Text 1"/>
          <p:cNvSpPr/>
          <p:nvPr/>
        </p:nvSpPr>
        <p:spPr>
          <a:xfrm>
            <a:off x="640080" y="640080"/>
            <a:ext cx="9144000" cy="274320"/>
          </a:xfrm>
          <a:prstGeom prst="rect">
            <a:avLst/>
          </a:prstGeom>
          <a:noFill/>
          <a:ln/>
        </p:spPr>
        <p:txBody>
          <a:bodyPr wrap="square" lIns="0" tIns="0" rIns="0" bIns="0" rtlCol="0" anchor="ctr"/>
          <a:lstStyle/>
          <a:p>
            <a:pPr indent="0" marL="0">
              <a:buNone/>
            </a:pPr>
            <a:r>
              <a:rPr lang="en-US" sz="1100" b="1" spc="400" kern="0" dirty="0">
                <a:solidFill>
                  <a:srgbClr val="0EA5E9"/>
                </a:solidFill>
                <a:latin typeface="Calibri" pitchFamily="34" charset="0"/>
                <a:ea typeface="Calibri" pitchFamily="34" charset="-122"/>
                <a:cs typeface="Calibri" pitchFamily="34" charset="-120"/>
              </a:rPr>
              <a:t>FOR THE TEACHER</a:t>
            </a:r>
            <a:endParaRPr lang="en-US" sz="1100" dirty="0"/>
          </a:p>
        </p:txBody>
      </p:sp>
      <p:sp>
        <p:nvSpPr>
          <p:cNvPr id="4" name="Text 2"/>
          <p:cNvSpPr/>
          <p:nvPr/>
        </p:nvSpPr>
        <p:spPr>
          <a:xfrm>
            <a:off x="640080" y="960120"/>
            <a:ext cx="9601200" cy="1188720"/>
          </a:xfrm>
          <a:prstGeom prst="rect">
            <a:avLst/>
          </a:prstGeom>
          <a:noFill/>
          <a:ln/>
        </p:spPr>
        <p:txBody>
          <a:bodyPr wrap="square" lIns="0" tIns="0" rIns="0" bIns="0" rtlCol="0" anchor="t"/>
          <a:lstStyle/>
          <a:p>
            <a:pPr indent="0" marL="0">
              <a:buNone/>
            </a:pPr>
            <a:r>
              <a:rPr lang="en-US" sz="3000" b="1" dirty="0">
                <a:solidFill>
                  <a:srgbClr val="0F172A"/>
                </a:solidFill>
                <a:latin typeface="Georgia" pitchFamily="34" charset="0"/>
                <a:ea typeface="Georgia" pitchFamily="34" charset="-122"/>
                <a:cs typeface="Georgia" pitchFamily="34" charset="-120"/>
              </a:rPr>
              <a:t>Your daily workflow — simplified.</a:t>
            </a:r>
            <a:endParaRPr lang="en-US" sz="3000" dirty="0"/>
          </a:p>
        </p:txBody>
      </p:sp>
      <p:sp>
        <p:nvSpPr>
          <p:cNvPr id="5" name="Shape 3"/>
          <p:cNvSpPr/>
          <p:nvPr/>
        </p:nvSpPr>
        <p:spPr>
          <a:xfrm>
            <a:off x="10607040" y="548640"/>
            <a:ext cx="1188720" cy="1188720"/>
          </a:xfrm>
          <a:prstGeom prst="ellipse">
            <a:avLst/>
          </a:prstGeom>
          <a:solidFill>
            <a:srgbClr val="0EA5E9"/>
          </a:solidFill>
          <a:ln/>
        </p:spPr>
      </p:sp>
      <p:sp>
        <p:nvSpPr>
          <p:cNvPr id="6" name="Text 4"/>
          <p:cNvSpPr/>
          <p:nvPr/>
        </p:nvSpPr>
        <p:spPr>
          <a:xfrm>
            <a:off x="10607040" y="548640"/>
            <a:ext cx="1188720" cy="1188720"/>
          </a:xfrm>
          <a:prstGeom prst="rect">
            <a:avLst/>
          </a:prstGeom>
          <a:noFill/>
          <a:ln/>
        </p:spPr>
        <p:txBody>
          <a:bodyPr wrap="square" lIns="0" tIns="0" rIns="0" bIns="0" rtlCol="0" anchor="ctr"/>
          <a:lstStyle/>
          <a:p>
            <a:pPr algn="ctr" indent="0" marL="0">
              <a:buNone/>
            </a:pPr>
            <a:r>
              <a:rPr lang="en-US" sz="5200" b="1" dirty="0">
                <a:solidFill>
                  <a:srgbClr val="FFFFFF"/>
                </a:solidFill>
                <a:latin typeface="Georgia" pitchFamily="34" charset="0"/>
                <a:ea typeface="Georgia" pitchFamily="34" charset="-122"/>
                <a:cs typeface="Georgia" pitchFamily="34" charset="-120"/>
              </a:rPr>
              <a:t>T</a:t>
            </a:r>
            <a:endParaRPr lang="en-US" sz="5200" dirty="0"/>
          </a:p>
        </p:txBody>
      </p:sp>
      <p:sp>
        <p:nvSpPr>
          <p:cNvPr id="7" name="Shape 5"/>
          <p:cNvSpPr/>
          <p:nvPr/>
        </p:nvSpPr>
        <p:spPr>
          <a:xfrm>
            <a:off x="640080" y="2331720"/>
            <a:ext cx="5394960" cy="374904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8" name="Shape 6"/>
          <p:cNvSpPr/>
          <p:nvPr/>
        </p:nvSpPr>
        <p:spPr>
          <a:xfrm>
            <a:off x="640080" y="2331720"/>
            <a:ext cx="5394960" cy="109728"/>
          </a:xfrm>
          <a:prstGeom prst="rect">
            <a:avLst/>
          </a:prstGeom>
          <a:solidFill>
            <a:srgbClr val="0EA5E9"/>
          </a:solidFill>
          <a:ln/>
        </p:spPr>
      </p:sp>
      <p:sp>
        <p:nvSpPr>
          <p:cNvPr id="9" name="Text 7"/>
          <p:cNvSpPr/>
          <p:nvPr/>
        </p:nvSpPr>
        <p:spPr>
          <a:xfrm>
            <a:off x="1005840" y="2606040"/>
            <a:ext cx="1097280" cy="640080"/>
          </a:xfrm>
          <a:prstGeom prst="rect">
            <a:avLst/>
          </a:prstGeom>
          <a:noFill/>
          <a:ln/>
        </p:spPr>
        <p:txBody>
          <a:bodyPr wrap="square" lIns="0" tIns="0" rIns="0" bIns="0" rtlCol="0" anchor="ctr"/>
          <a:lstStyle/>
          <a:p>
            <a:pPr indent="0" marL="0">
              <a:buNone/>
            </a:pPr>
            <a:r>
              <a:rPr lang="en-US" sz="3600" b="1" dirty="0">
                <a:solidFill>
                  <a:srgbClr val="0EA5E9"/>
                </a:solidFill>
                <a:latin typeface="Georgia" pitchFamily="34" charset="0"/>
                <a:ea typeface="Georgia" pitchFamily="34" charset="-122"/>
                <a:cs typeface="Georgia" pitchFamily="34" charset="-120"/>
              </a:rPr>
              <a:t>01</a:t>
            </a:r>
            <a:endParaRPr lang="en-US" sz="3600" dirty="0"/>
          </a:p>
        </p:txBody>
      </p:sp>
      <p:sp>
        <p:nvSpPr>
          <p:cNvPr id="10" name="Text 8"/>
          <p:cNvSpPr/>
          <p:nvPr/>
        </p:nvSpPr>
        <p:spPr>
          <a:xfrm>
            <a:off x="1005840" y="3200400"/>
            <a:ext cx="4663440" cy="457200"/>
          </a:xfrm>
          <a:prstGeom prst="rect">
            <a:avLst/>
          </a:prstGeom>
          <a:noFill/>
          <a:ln/>
        </p:spPr>
        <p:txBody>
          <a:bodyPr wrap="square" lIns="0" tIns="0" rIns="0" bIns="0" rtlCol="0" anchor="ctr"/>
          <a:lstStyle/>
          <a:p>
            <a:pPr indent="0" marL="0">
              <a:buNone/>
            </a:pPr>
            <a:r>
              <a:rPr lang="en-US" sz="2000" b="1" dirty="0">
                <a:solidFill>
                  <a:srgbClr val="0F172A"/>
                </a:solidFill>
                <a:latin typeface="Georgia" pitchFamily="34" charset="0"/>
                <a:ea typeface="Georgia" pitchFamily="34" charset="-122"/>
                <a:cs typeface="Georgia" pitchFamily="34" charset="-120"/>
              </a:rPr>
              <a:t>Attendance in seconds.</a:t>
            </a:r>
            <a:endParaRPr lang="en-US" sz="2000" dirty="0"/>
          </a:p>
        </p:txBody>
      </p:sp>
      <p:sp>
        <p:nvSpPr>
          <p:cNvPr id="11" name="Text 9"/>
          <p:cNvSpPr/>
          <p:nvPr/>
        </p:nvSpPr>
        <p:spPr>
          <a:xfrm>
            <a:off x="1005840" y="3749040"/>
            <a:ext cx="4663440" cy="21945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Load your class, tap absent or late on each student, submit.</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Bulk mark whole class present with one action.</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View past attendance by month or year.</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Records are immutable — full audit trail.</a:t>
            </a:r>
            <a:endParaRPr lang="en-US" sz="1300" dirty="0"/>
          </a:p>
        </p:txBody>
      </p:sp>
      <p:sp>
        <p:nvSpPr>
          <p:cNvPr id="12" name="Shape 10"/>
          <p:cNvSpPr/>
          <p:nvPr/>
        </p:nvSpPr>
        <p:spPr>
          <a:xfrm>
            <a:off x="6309360" y="2331720"/>
            <a:ext cx="5394960" cy="374904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13" name="Shape 11"/>
          <p:cNvSpPr/>
          <p:nvPr/>
        </p:nvSpPr>
        <p:spPr>
          <a:xfrm>
            <a:off x="6309360" y="2331720"/>
            <a:ext cx="5394960" cy="109728"/>
          </a:xfrm>
          <a:prstGeom prst="rect">
            <a:avLst/>
          </a:prstGeom>
          <a:solidFill>
            <a:srgbClr val="0EA5E9"/>
          </a:solidFill>
          <a:ln/>
        </p:spPr>
      </p:sp>
      <p:sp>
        <p:nvSpPr>
          <p:cNvPr id="14" name="Text 12"/>
          <p:cNvSpPr/>
          <p:nvPr/>
        </p:nvSpPr>
        <p:spPr>
          <a:xfrm>
            <a:off x="6675120" y="2606040"/>
            <a:ext cx="1097280" cy="640080"/>
          </a:xfrm>
          <a:prstGeom prst="rect">
            <a:avLst/>
          </a:prstGeom>
          <a:noFill/>
          <a:ln/>
        </p:spPr>
        <p:txBody>
          <a:bodyPr wrap="square" lIns="0" tIns="0" rIns="0" bIns="0" rtlCol="0" anchor="ctr"/>
          <a:lstStyle/>
          <a:p>
            <a:pPr indent="0" marL="0">
              <a:buNone/>
            </a:pPr>
            <a:r>
              <a:rPr lang="en-US" sz="3600" b="1" dirty="0">
                <a:solidFill>
                  <a:srgbClr val="0EA5E9"/>
                </a:solidFill>
                <a:latin typeface="Georgia" pitchFamily="34" charset="0"/>
                <a:ea typeface="Georgia" pitchFamily="34" charset="-122"/>
                <a:cs typeface="Georgia" pitchFamily="34" charset="-120"/>
              </a:rPr>
              <a:t>02</a:t>
            </a:r>
            <a:endParaRPr lang="en-US" sz="3600" dirty="0"/>
          </a:p>
        </p:txBody>
      </p:sp>
      <p:sp>
        <p:nvSpPr>
          <p:cNvPr id="15" name="Text 13"/>
          <p:cNvSpPr/>
          <p:nvPr/>
        </p:nvSpPr>
        <p:spPr>
          <a:xfrm>
            <a:off x="6675120" y="3200400"/>
            <a:ext cx="4663440" cy="457200"/>
          </a:xfrm>
          <a:prstGeom prst="rect">
            <a:avLst/>
          </a:prstGeom>
          <a:noFill/>
          <a:ln/>
        </p:spPr>
        <p:txBody>
          <a:bodyPr wrap="square" lIns="0" tIns="0" rIns="0" bIns="0" rtlCol="0" anchor="ctr"/>
          <a:lstStyle/>
          <a:p>
            <a:pPr indent="0" marL="0">
              <a:buNone/>
            </a:pPr>
            <a:r>
              <a:rPr lang="en-US" sz="2000" b="1" dirty="0">
                <a:solidFill>
                  <a:srgbClr val="0F172A"/>
                </a:solidFill>
                <a:latin typeface="Georgia" pitchFamily="34" charset="0"/>
                <a:ea typeface="Georgia" pitchFamily="34" charset="-122"/>
                <a:cs typeface="Georgia" pitchFamily="34" charset="-120"/>
              </a:rPr>
              <a:t>Homework, done right.</a:t>
            </a:r>
            <a:endParaRPr lang="en-US" sz="2000" dirty="0"/>
          </a:p>
        </p:txBody>
      </p:sp>
      <p:sp>
        <p:nvSpPr>
          <p:cNvPr id="16" name="Text 14"/>
          <p:cNvSpPr/>
          <p:nvPr/>
        </p:nvSpPr>
        <p:spPr>
          <a:xfrm>
            <a:off x="6675120" y="3749040"/>
            <a:ext cx="4663440" cy="21945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Title, description, subject, due date — all in one form.</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Attach PDFs, Word docs, or images up to 10 MB.</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Save as draft, edit, then submit for admin approval.</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Published homework instantly appears for parents.</a:t>
            </a:r>
            <a:endParaRPr lang="en-US" sz="1300" dirty="0"/>
          </a:p>
        </p:txBody>
      </p:sp>
      <p:sp>
        <p:nvSpPr>
          <p:cNvPr id="17" name="Text 15"/>
          <p:cNvSpPr/>
          <p:nvPr/>
        </p:nvSpPr>
        <p:spPr>
          <a:xfrm>
            <a:off x="640080" y="6172200"/>
            <a:ext cx="10972800" cy="27432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Teachers also see:  their classes  •  their students  •  their own profile &amp; assignments</a:t>
            </a:r>
            <a:endParaRPr lang="en-US" sz="1100" dirty="0"/>
          </a:p>
        </p:txBody>
      </p:sp>
      <p:sp>
        <p:nvSpPr>
          <p:cNvPr id="18" name="Shape 16"/>
          <p:cNvSpPr/>
          <p:nvPr/>
        </p:nvSpPr>
        <p:spPr>
          <a:xfrm>
            <a:off x="457200" y="6446520"/>
            <a:ext cx="11247120" cy="0"/>
          </a:xfrm>
          <a:prstGeom prst="line">
            <a:avLst/>
          </a:prstGeom>
          <a:noFill/>
          <a:ln w="9525">
            <a:solidFill>
              <a:srgbClr val="E2E8F0"/>
            </a:solidFill>
            <a:prstDash val="solid"/>
          </a:ln>
        </p:spPr>
      </p:sp>
      <p:sp>
        <p:nvSpPr>
          <p:cNvPr id="19" name="Text 17"/>
          <p:cNvSpPr/>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EduConnect  |  FBT — Future Beyond Technology</a:t>
            </a:r>
            <a:endParaRPr lang="en-US" sz="900" dirty="0"/>
          </a:p>
        </p:txBody>
      </p:sp>
      <p:sp>
        <p:nvSpPr>
          <p:cNvPr id="20" name="Text 18"/>
          <p:cNvSpPr/>
          <p:nvPr/>
        </p:nvSpPr>
        <p:spPr>
          <a:xfrm>
            <a:off x="10972800" y="653796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59E0B"/>
          </a:solidFill>
          <a:ln/>
        </p:spPr>
      </p:sp>
      <p:sp>
        <p:nvSpPr>
          <p:cNvPr id="3" name="Text 1"/>
          <p:cNvSpPr/>
          <p:nvPr/>
        </p:nvSpPr>
        <p:spPr>
          <a:xfrm>
            <a:off x="640080" y="640080"/>
            <a:ext cx="9144000" cy="274320"/>
          </a:xfrm>
          <a:prstGeom prst="rect">
            <a:avLst/>
          </a:prstGeom>
          <a:noFill/>
          <a:ln/>
        </p:spPr>
        <p:txBody>
          <a:bodyPr wrap="square" lIns="0" tIns="0" rIns="0" bIns="0" rtlCol="0" anchor="ctr"/>
          <a:lstStyle/>
          <a:p>
            <a:pPr indent="0" marL="0">
              <a:buNone/>
            </a:pPr>
            <a:r>
              <a:rPr lang="en-US" sz="1100" b="1" spc="400" kern="0" dirty="0">
                <a:solidFill>
                  <a:srgbClr val="F59E0B"/>
                </a:solidFill>
                <a:latin typeface="Calibri" pitchFamily="34" charset="0"/>
                <a:ea typeface="Calibri" pitchFamily="34" charset="-122"/>
                <a:cs typeface="Calibri" pitchFamily="34" charset="-120"/>
              </a:rPr>
              <a:t>FOR THE PARENT</a:t>
            </a:r>
            <a:endParaRPr lang="en-US" sz="1100" dirty="0"/>
          </a:p>
        </p:txBody>
      </p:sp>
      <p:sp>
        <p:nvSpPr>
          <p:cNvPr id="4" name="Text 2"/>
          <p:cNvSpPr/>
          <p:nvPr/>
        </p:nvSpPr>
        <p:spPr>
          <a:xfrm>
            <a:off x="640080" y="960120"/>
            <a:ext cx="9601200" cy="1188720"/>
          </a:xfrm>
          <a:prstGeom prst="rect">
            <a:avLst/>
          </a:prstGeom>
          <a:noFill/>
          <a:ln/>
        </p:spPr>
        <p:txBody>
          <a:bodyPr wrap="square" lIns="0" tIns="0" rIns="0" bIns="0" rtlCol="0" anchor="t"/>
          <a:lstStyle/>
          <a:p>
            <a:pPr indent="0" marL="0">
              <a:buNone/>
            </a:pPr>
            <a:r>
              <a:rPr lang="en-US" sz="3000" b="1" dirty="0">
                <a:solidFill>
                  <a:srgbClr val="0F172A"/>
                </a:solidFill>
                <a:latin typeface="Georgia" pitchFamily="34" charset="0"/>
                <a:ea typeface="Georgia" pitchFamily="34" charset="-122"/>
                <a:cs typeface="Georgia" pitchFamily="34" charset="-120"/>
              </a:rPr>
              <a:t>Stay connected — without the noise.</a:t>
            </a:r>
            <a:endParaRPr lang="en-US" sz="3000" dirty="0"/>
          </a:p>
        </p:txBody>
      </p:sp>
      <p:sp>
        <p:nvSpPr>
          <p:cNvPr id="5" name="Shape 3"/>
          <p:cNvSpPr/>
          <p:nvPr/>
        </p:nvSpPr>
        <p:spPr>
          <a:xfrm>
            <a:off x="10607040" y="548640"/>
            <a:ext cx="1188720" cy="1188720"/>
          </a:xfrm>
          <a:prstGeom prst="ellipse">
            <a:avLst/>
          </a:prstGeom>
          <a:solidFill>
            <a:srgbClr val="F59E0B"/>
          </a:solidFill>
          <a:ln/>
        </p:spPr>
      </p:sp>
      <p:sp>
        <p:nvSpPr>
          <p:cNvPr id="6" name="Text 4"/>
          <p:cNvSpPr/>
          <p:nvPr/>
        </p:nvSpPr>
        <p:spPr>
          <a:xfrm>
            <a:off x="10607040" y="548640"/>
            <a:ext cx="1188720" cy="1188720"/>
          </a:xfrm>
          <a:prstGeom prst="rect">
            <a:avLst/>
          </a:prstGeom>
          <a:noFill/>
          <a:ln/>
        </p:spPr>
        <p:txBody>
          <a:bodyPr wrap="square" lIns="0" tIns="0" rIns="0" bIns="0" rtlCol="0" anchor="ctr"/>
          <a:lstStyle/>
          <a:p>
            <a:pPr algn="ctr" indent="0" marL="0">
              <a:buNone/>
            </a:pPr>
            <a:r>
              <a:rPr lang="en-US" sz="5200" b="1" dirty="0">
                <a:solidFill>
                  <a:srgbClr val="FFFFFF"/>
                </a:solidFill>
                <a:latin typeface="Georgia" pitchFamily="34" charset="0"/>
                <a:ea typeface="Georgia" pitchFamily="34" charset="-122"/>
                <a:cs typeface="Georgia" pitchFamily="34" charset="-120"/>
              </a:rPr>
              <a:t>P</a:t>
            </a:r>
            <a:endParaRPr lang="en-US" sz="5200" dirty="0"/>
          </a:p>
        </p:txBody>
      </p:sp>
      <p:sp>
        <p:nvSpPr>
          <p:cNvPr id="7" name="Shape 5"/>
          <p:cNvSpPr/>
          <p:nvPr/>
        </p:nvSpPr>
        <p:spPr>
          <a:xfrm>
            <a:off x="640080" y="2331720"/>
            <a:ext cx="4389120" cy="3931920"/>
          </a:xfrm>
          <a:prstGeom prst="rect">
            <a:avLst/>
          </a:prstGeom>
          <a:solidFill>
            <a:srgbClr val="0F1E3D"/>
          </a:solidFill>
          <a:ln/>
        </p:spPr>
      </p:sp>
      <p:sp>
        <p:nvSpPr>
          <p:cNvPr id="8" name="Text 6"/>
          <p:cNvSpPr/>
          <p:nvPr/>
        </p:nvSpPr>
        <p:spPr>
          <a:xfrm>
            <a:off x="960120" y="2651760"/>
            <a:ext cx="3840480" cy="274320"/>
          </a:xfrm>
          <a:prstGeom prst="rect">
            <a:avLst/>
          </a:prstGeom>
          <a:noFill/>
          <a:ln/>
        </p:spPr>
        <p:txBody>
          <a:bodyPr wrap="square" lIns="0" tIns="0" rIns="0" bIns="0" rtlCol="0" anchor="ctr"/>
          <a:lstStyle/>
          <a:p>
            <a:pPr indent="0" marL="0">
              <a:buNone/>
            </a:pPr>
            <a:r>
              <a:rPr lang="en-US" sz="1000" b="1" spc="500" kern="0" dirty="0">
                <a:solidFill>
                  <a:srgbClr val="F59E0B"/>
                </a:solidFill>
                <a:latin typeface="Calibri" pitchFamily="34" charset="0"/>
                <a:ea typeface="Calibri" pitchFamily="34" charset="-122"/>
                <a:cs typeface="Calibri" pitchFamily="34" charset="-120"/>
              </a:rPr>
              <a:t>THE LOGIN WE DESIGNED FOR PARENTS</a:t>
            </a:r>
            <a:endParaRPr lang="en-US" sz="1000" dirty="0"/>
          </a:p>
        </p:txBody>
      </p:sp>
      <p:sp>
        <p:nvSpPr>
          <p:cNvPr id="9" name="Text 7"/>
          <p:cNvSpPr/>
          <p:nvPr/>
        </p:nvSpPr>
        <p:spPr>
          <a:xfrm>
            <a:off x="960120" y="3017520"/>
            <a:ext cx="3840480" cy="64008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Phone + PIN.</a:t>
            </a:r>
            <a:endParaRPr lang="en-US" sz="3400" dirty="0"/>
          </a:p>
        </p:txBody>
      </p:sp>
      <p:sp>
        <p:nvSpPr>
          <p:cNvPr id="10" name="Shape 8"/>
          <p:cNvSpPr/>
          <p:nvPr/>
        </p:nvSpPr>
        <p:spPr>
          <a:xfrm>
            <a:off x="960120" y="3703320"/>
            <a:ext cx="457200" cy="36576"/>
          </a:xfrm>
          <a:prstGeom prst="rect">
            <a:avLst/>
          </a:prstGeom>
          <a:solidFill>
            <a:srgbClr val="F59E0B"/>
          </a:solidFill>
          <a:ln/>
        </p:spPr>
      </p:sp>
      <p:sp>
        <p:nvSpPr>
          <p:cNvPr id="11" name="Text 9"/>
          <p:cNvSpPr/>
          <p:nvPr/>
        </p:nvSpPr>
        <p:spPr>
          <a:xfrm>
            <a:off x="960120" y="4023360"/>
            <a:ext cx="3840480" cy="155448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No passwords to forget</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4 to 6 digit PIN — quick to type</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Works on any phone — no app install needed</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Can be reset via email if forgotten</a:t>
            </a:r>
            <a:endParaRPr lang="en-US" sz="1300" dirty="0"/>
          </a:p>
        </p:txBody>
      </p:sp>
      <p:sp>
        <p:nvSpPr>
          <p:cNvPr id="12" name="Text 10"/>
          <p:cNvSpPr/>
          <p:nvPr/>
        </p:nvSpPr>
        <p:spPr>
          <a:xfrm>
            <a:off x="960120" y="5669280"/>
            <a:ext cx="3840480" cy="411480"/>
          </a:xfrm>
          <a:prstGeom prst="rect">
            <a:avLst/>
          </a:prstGeom>
          <a:noFill/>
          <a:ln/>
        </p:spPr>
        <p:txBody>
          <a:bodyPr wrap="square" lIns="0" tIns="0" rIns="0" bIns="0" rtlCol="0" anchor="ctr"/>
          <a:lstStyle/>
          <a:p>
            <a:pPr indent="0" marL="0">
              <a:buNone/>
            </a:pPr>
            <a:r>
              <a:rPr lang="en-US" sz="1200" i="1" dirty="0">
                <a:solidFill>
                  <a:srgbClr val="CADCFC"/>
                </a:solidFill>
                <a:latin typeface="Georgia" pitchFamily="34" charset="0"/>
                <a:ea typeface="Georgia" pitchFamily="34" charset="-122"/>
                <a:cs typeface="Georgia" pitchFamily="34" charset="-120"/>
              </a:rPr>
              <a:t>Because parents are busy — not tech experts.</a:t>
            </a:r>
            <a:endParaRPr lang="en-US" sz="1200" dirty="0"/>
          </a:p>
        </p:txBody>
      </p:sp>
      <p:sp>
        <p:nvSpPr>
          <p:cNvPr id="13" name="Shape 11"/>
          <p:cNvSpPr/>
          <p:nvPr/>
        </p:nvSpPr>
        <p:spPr>
          <a:xfrm>
            <a:off x="5303520" y="2331720"/>
            <a:ext cx="6583680" cy="118872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14" name="Shape 12"/>
          <p:cNvSpPr/>
          <p:nvPr/>
        </p:nvSpPr>
        <p:spPr>
          <a:xfrm>
            <a:off x="5303520" y="2331720"/>
            <a:ext cx="73152" cy="1188720"/>
          </a:xfrm>
          <a:prstGeom prst="rect">
            <a:avLst/>
          </a:prstGeom>
          <a:solidFill>
            <a:srgbClr val="F59E0B"/>
          </a:solidFill>
          <a:ln/>
        </p:spPr>
      </p:sp>
      <p:sp>
        <p:nvSpPr>
          <p:cNvPr id="15" name="Text 13"/>
          <p:cNvSpPr/>
          <p:nvPr/>
        </p:nvSpPr>
        <p:spPr>
          <a:xfrm>
            <a:off x="5532120" y="2496312"/>
            <a:ext cx="6217920" cy="411480"/>
          </a:xfrm>
          <a:prstGeom prst="rect">
            <a:avLst/>
          </a:prstGeom>
          <a:noFill/>
          <a:ln/>
        </p:spPr>
        <p:txBody>
          <a:bodyPr wrap="square" lIns="0" tIns="0" rIns="0" bIns="0" rtlCol="0" anchor="t"/>
          <a:lstStyle/>
          <a:p>
            <a:pPr indent="0" marL="0">
              <a:buNone/>
            </a:pPr>
            <a:r>
              <a:rPr lang="en-US" sz="1600" b="1" dirty="0">
                <a:solidFill>
                  <a:srgbClr val="0F172A"/>
                </a:solidFill>
                <a:latin typeface="Georgia" pitchFamily="34" charset="0"/>
                <a:ea typeface="Georgia" pitchFamily="34" charset="-122"/>
                <a:cs typeface="Georgia" pitchFamily="34" charset="-120"/>
              </a:rPr>
              <a:t>Attendance history</a:t>
            </a:r>
            <a:endParaRPr lang="en-US" sz="1600" dirty="0"/>
          </a:p>
        </p:txBody>
      </p:sp>
      <p:sp>
        <p:nvSpPr>
          <p:cNvPr id="16" name="Text 14"/>
          <p:cNvSpPr/>
          <p:nvPr/>
        </p:nvSpPr>
        <p:spPr>
          <a:xfrm>
            <a:off x="5532120" y="2971800"/>
            <a:ext cx="6217920" cy="411480"/>
          </a:xfrm>
          <a:prstGeom prst="rect">
            <a:avLst/>
          </a:prstGeom>
          <a:noFill/>
          <a:ln/>
        </p:spPr>
        <p:txBody>
          <a:bodyPr wrap="square" lIns="0" tIns="0" rIns="0" bIns="0" rtlCol="0" anchor="t"/>
          <a:lstStyle/>
          <a:p>
            <a:pPr indent="0" marL="0">
              <a:spcAft>
                <a:spcPts val="400"/>
              </a:spcAft>
              <a:buNone/>
            </a:pPr>
            <a:r>
              <a:rPr lang="en-US" sz="1200" dirty="0">
                <a:solidFill>
                  <a:srgbClr val="64748B"/>
                </a:solidFill>
                <a:latin typeface="Calibri" pitchFamily="34" charset="0"/>
                <a:ea typeface="Calibri" pitchFamily="34" charset="-122"/>
                <a:cs typeface="Calibri" pitchFamily="34" charset="-120"/>
              </a:rPr>
              <a:t>View your child's absences and late marks by month. Leave applications and their status, all in one place.</a:t>
            </a:r>
            <a:endParaRPr lang="en-US" sz="1200" dirty="0"/>
          </a:p>
        </p:txBody>
      </p:sp>
      <p:sp>
        <p:nvSpPr>
          <p:cNvPr id="17" name="Shape 15"/>
          <p:cNvSpPr/>
          <p:nvPr/>
        </p:nvSpPr>
        <p:spPr>
          <a:xfrm>
            <a:off x="5303520" y="3703320"/>
            <a:ext cx="6583680" cy="118872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18" name="Shape 16"/>
          <p:cNvSpPr/>
          <p:nvPr/>
        </p:nvSpPr>
        <p:spPr>
          <a:xfrm>
            <a:off x="5303520" y="3703320"/>
            <a:ext cx="73152" cy="1188720"/>
          </a:xfrm>
          <a:prstGeom prst="rect">
            <a:avLst/>
          </a:prstGeom>
          <a:solidFill>
            <a:srgbClr val="F59E0B"/>
          </a:solidFill>
          <a:ln/>
        </p:spPr>
      </p:sp>
      <p:sp>
        <p:nvSpPr>
          <p:cNvPr id="19" name="Text 17"/>
          <p:cNvSpPr/>
          <p:nvPr/>
        </p:nvSpPr>
        <p:spPr>
          <a:xfrm>
            <a:off x="5532120" y="3867912"/>
            <a:ext cx="6217920" cy="411480"/>
          </a:xfrm>
          <a:prstGeom prst="rect">
            <a:avLst/>
          </a:prstGeom>
          <a:noFill/>
          <a:ln/>
        </p:spPr>
        <p:txBody>
          <a:bodyPr wrap="square" lIns="0" tIns="0" rIns="0" bIns="0" rtlCol="0" anchor="t"/>
          <a:lstStyle/>
          <a:p>
            <a:pPr indent="0" marL="0">
              <a:buNone/>
            </a:pPr>
            <a:r>
              <a:rPr lang="en-US" sz="1600" b="1" dirty="0">
                <a:solidFill>
                  <a:srgbClr val="0F172A"/>
                </a:solidFill>
                <a:latin typeface="Georgia" pitchFamily="34" charset="0"/>
                <a:ea typeface="Georgia" pitchFamily="34" charset="-122"/>
                <a:cs typeface="Georgia" pitchFamily="34" charset="-120"/>
              </a:rPr>
              <a:t>Homework with attachments</a:t>
            </a:r>
            <a:endParaRPr lang="en-US" sz="1600" dirty="0"/>
          </a:p>
        </p:txBody>
      </p:sp>
      <p:sp>
        <p:nvSpPr>
          <p:cNvPr id="20" name="Text 18"/>
          <p:cNvSpPr/>
          <p:nvPr/>
        </p:nvSpPr>
        <p:spPr>
          <a:xfrm>
            <a:off x="5532120" y="4343400"/>
            <a:ext cx="6217920" cy="411480"/>
          </a:xfrm>
          <a:prstGeom prst="rect">
            <a:avLst/>
          </a:prstGeom>
          <a:noFill/>
          <a:ln/>
        </p:spPr>
        <p:txBody>
          <a:bodyPr wrap="square" lIns="0" tIns="0" rIns="0" bIns="0" rtlCol="0" anchor="t"/>
          <a:lstStyle/>
          <a:p>
            <a:pPr indent="0" marL="0">
              <a:spcAft>
                <a:spcPts val="400"/>
              </a:spcAft>
              <a:buNone/>
            </a:pPr>
            <a:r>
              <a:rPr lang="en-US" sz="1200" dirty="0">
                <a:solidFill>
                  <a:srgbClr val="64748B"/>
                </a:solidFill>
                <a:latin typeface="Calibri" pitchFamily="34" charset="0"/>
                <a:ea typeface="Calibri" pitchFamily="34" charset="-122"/>
                <a:cs typeface="Calibri" pitchFamily="34" charset="-120"/>
              </a:rPr>
              <a:t>See today's homework with due dates. Download PDFs, worksheets, and reference materials.</a:t>
            </a:r>
            <a:endParaRPr lang="en-US" sz="1200" dirty="0"/>
          </a:p>
        </p:txBody>
      </p:sp>
      <p:sp>
        <p:nvSpPr>
          <p:cNvPr id="21" name="Shape 19"/>
          <p:cNvSpPr/>
          <p:nvPr/>
        </p:nvSpPr>
        <p:spPr>
          <a:xfrm>
            <a:off x="5303520" y="5074920"/>
            <a:ext cx="6583680" cy="118872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22" name="Shape 20"/>
          <p:cNvSpPr/>
          <p:nvPr/>
        </p:nvSpPr>
        <p:spPr>
          <a:xfrm>
            <a:off x="5303520" y="5074920"/>
            <a:ext cx="73152" cy="1188720"/>
          </a:xfrm>
          <a:prstGeom prst="rect">
            <a:avLst/>
          </a:prstGeom>
          <a:solidFill>
            <a:srgbClr val="F59E0B"/>
          </a:solidFill>
          <a:ln/>
        </p:spPr>
      </p:sp>
      <p:sp>
        <p:nvSpPr>
          <p:cNvPr id="23" name="Text 21"/>
          <p:cNvSpPr/>
          <p:nvPr/>
        </p:nvSpPr>
        <p:spPr>
          <a:xfrm>
            <a:off x="5532120" y="5239512"/>
            <a:ext cx="6217920" cy="411480"/>
          </a:xfrm>
          <a:prstGeom prst="rect">
            <a:avLst/>
          </a:prstGeom>
          <a:noFill/>
          <a:ln/>
        </p:spPr>
        <p:txBody>
          <a:bodyPr wrap="square" lIns="0" tIns="0" rIns="0" bIns="0" rtlCol="0" anchor="t"/>
          <a:lstStyle/>
          <a:p>
            <a:pPr indent="0" marL="0">
              <a:buNone/>
            </a:pPr>
            <a:r>
              <a:rPr lang="en-US" sz="1600" b="1" dirty="0">
                <a:solidFill>
                  <a:srgbClr val="0F172A"/>
                </a:solidFill>
                <a:latin typeface="Georgia" pitchFamily="34" charset="0"/>
                <a:ea typeface="Georgia" pitchFamily="34" charset="-122"/>
                <a:cs typeface="Georgia" pitchFamily="34" charset="-120"/>
              </a:rPr>
              <a:t>School notices</a:t>
            </a:r>
            <a:endParaRPr lang="en-US" sz="1600" dirty="0"/>
          </a:p>
        </p:txBody>
      </p:sp>
      <p:sp>
        <p:nvSpPr>
          <p:cNvPr id="24" name="Text 22"/>
          <p:cNvSpPr/>
          <p:nvPr/>
        </p:nvSpPr>
        <p:spPr>
          <a:xfrm>
            <a:off x="5532120" y="5715000"/>
            <a:ext cx="6217920" cy="411480"/>
          </a:xfrm>
          <a:prstGeom prst="rect">
            <a:avLst/>
          </a:prstGeom>
          <a:noFill/>
          <a:ln/>
        </p:spPr>
        <p:txBody>
          <a:bodyPr wrap="square" lIns="0" tIns="0" rIns="0" bIns="0" rtlCol="0" anchor="t"/>
          <a:lstStyle/>
          <a:p>
            <a:pPr indent="0" marL="0">
              <a:spcAft>
                <a:spcPts val="400"/>
              </a:spcAft>
              <a:buNone/>
            </a:pPr>
            <a:r>
              <a:rPr lang="en-US" sz="1200" dirty="0">
                <a:solidFill>
                  <a:srgbClr val="64748B"/>
                </a:solidFill>
                <a:latin typeface="Calibri" pitchFamily="34" charset="0"/>
                <a:ea typeface="Calibri" pitchFamily="34" charset="-122"/>
                <a:cs typeface="Calibri" pitchFamily="34" charset="-120"/>
              </a:rPr>
              <a:t>All notices that affect your child — whole-school, class, or section — in a clean, searchable feed.</a:t>
            </a:r>
            <a:endParaRPr lang="en-US" sz="1200" dirty="0"/>
          </a:p>
        </p:txBody>
      </p:sp>
      <p:sp>
        <p:nvSpPr>
          <p:cNvPr id="25" name="Shape 23"/>
          <p:cNvSpPr/>
          <p:nvPr/>
        </p:nvSpPr>
        <p:spPr>
          <a:xfrm>
            <a:off x="457200" y="6446520"/>
            <a:ext cx="11247120" cy="0"/>
          </a:xfrm>
          <a:prstGeom prst="line">
            <a:avLst/>
          </a:prstGeom>
          <a:noFill/>
          <a:ln w="9525">
            <a:solidFill>
              <a:srgbClr val="E2E8F0"/>
            </a:solidFill>
            <a:prstDash val="solid"/>
          </a:ln>
        </p:spPr>
      </p:sp>
      <p:sp>
        <p:nvSpPr>
          <p:cNvPr id="26" name="Text 24"/>
          <p:cNvSpPr/>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EduConnect  |  FBT — Future Beyond Technology</a:t>
            </a:r>
            <a:endParaRPr lang="en-US" sz="900" dirty="0"/>
          </a:p>
        </p:txBody>
      </p:sp>
      <p:sp>
        <p:nvSpPr>
          <p:cNvPr id="27" name="Text 25"/>
          <p:cNvSpPr/>
          <p:nvPr/>
        </p:nvSpPr>
        <p:spPr>
          <a:xfrm>
            <a:off x="10972800" y="653796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400" kern="0" dirty="0">
                <a:solidFill>
                  <a:srgbClr val="0EA5E9"/>
                </a:solidFill>
                <a:latin typeface="Calibri" pitchFamily="34" charset="0"/>
                <a:ea typeface="Calibri" pitchFamily="34" charset="-122"/>
                <a:cs typeface="Calibri" pitchFamily="34" charset="-120"/>
              </a:rPr>
              <a:t>THE FEATURES THAT MAKE THE DIFFERENCE</a:t>
            </a:r>
            <a:endParaRPr lang="en-US" sz="1100" dirty="0"/>
          </a:p>
        </p:txBody>
      </p:sp>
      <p:sp>
        <p:nvSpPr>
          <p:cNvPr id="3" name="Text 1"/>
          <p:cNvSpPr/>
          <p:nvPr/>
        </p:nvSpPr>
        <p:spPr>
          <a:xfrm>
            <a:off x="640080" y="822960"/>
            <a:ext cx="10972800" cy="914400"/>
          </a:xfrm>
          <a:prstGeom prst="rect">
            <a:avLst/>
          </a:prstGeom>
          <a:noFill/>
          <a:ln/>
        </p:spPr>
        <p:txBody>
          <a:bodyPr wrap="square" lIns="0" tIns="0" rIns="0" bIns="0" rtlCol="0" anchor="t"/>
          <a:lstStyle/>
          <a:p>
            <a:pPr indent="0" marL="0">
              <a:buNone/>
            </a:pPr>
            <a:r>
              <a:rPr lang="en-US" sz="3600" b="1" dirty="0">
                <a:solidFill>
                  <a:srgbClr val="0F172A"/>
                </a:solidFill>
                <a:latin typeface="Georgia" pitchFamily="34" charset="0"/>
                <a:ea typeface="Georgia" pitchFamily="34" charset="-122"/>
                <a:cs typeface="Georgia" pitchFamily="34" charset="-120"/>
              </a:rPr>
              <a:t>More than a dashboard.</a:t>
            </a:r>
            <a:endParaRPr lang="en-US" sz="3600" dirty="0"/>
          </a:p>
        </p:txBody>
      </p:sp>
      <p:sp>
        <p:nvSpPr>
          <p:cNvPr id="4" name="Text 2"/>
          <p:cNvSpPr/>
          <p:nvPr/>
        </p:nvSpPr>
        <p:spPr>
          <a:xfrm>
            <a:off x="640080" y="1828800"/>
            <a:ext cx="10972800" cy="45720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These are the details that turn a "nice tool" into one your school will actually use every day.</a:t>
            </a:r>
            <a:endParaRPr lang="en-US" sz="1400" dirty="0"/>
          </a:p>
        </p:txBody>
      </p:sp>
      <p:sp>
        <p:nvSpPr>
          <p:cNvPr id="5" name="Shape 3"/>
          <p:cNvSpPr/>
          <p:nvPr/>
        </p:nvSpPr>
        <p:spPr>
          <a:xfrm>
            <a:off x="640080" y="2606040"/>
            <a:ext cx="3611880" cy="169164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6" name="Shape 4"/>
          <p:cNvSpPr/>
          <p:nvPr/>
        </p:nvSpPr>
        <p:spPr>
          <a:xfrm>
            <a:off x="640080" y="2606040"/>
            <a:ext cx="73152" cy="1691640"/>
          </a:xfrm>
          <a:prstGeom prst="rect">
            <a:avLst/>
          </a:prstGeom>
          <a:solidFill>
            <a:srgbClr val="1E3A8A"/>
          </a:solidFill>
          <a:ln/>
        </p:spPr>
      </p:sp>
      <p:sp>
        <p:nvSpPr>
          <p:cNvPr id="7" name="Text 5"/>
          <p:cNvSpPr/>
          <p:nvPr/>
        </p:nvSpPr>
        <p:spPr>
          <a:xfrm>
            <a:off x="868680" y="2770632"/>
            <a:ext cx="3246120" cy="411480"/>
          </a:xfrm>
          <a:prstGeom prst="rect">
            <a:avLst/>
          </a:prstGeom>
          <a:noFill/>
          <a:ln/>
        </p:spPr>
        <p:txBody>
          <a:bodyPr wrap="square" lIns="0" tIns="0" rIns="0" bIns="0" rtlCol="0" anchor="t"/>
          <a:lstStyle/>
          <a:p>
            <a:pPr indent="0" marL="0">
              <a:buNone/>
            </a:pPr>
            <a:r>
              <a:rPr lang="en-US" sz="1600" b="1" dirty="0">
                <a:solidFill>
                  <a:srgbClr val="0F172A"/>
                </a:solidFill>
                <a:latin typeface="Georgia" pitchFamily="34" charset="0"/>
                <a:ea typeface="Georgia" pitchFamily="34" charset="-122"/>
                <a:cs typeface="Georgia" pitchFamily="34" charset="-120"/>
              </a:rPr>
              <a:t>File Attachments</a:t>
            </a:r>
            <a:endParaRPr lang="en-US" sz="1600" dirty="0"/>
          </a:p>
        </p:txBody>
      </p:sp>
      <p:sp>
        <p:nvSpPr>
          <p:cNvPr id="8" name="Text 6"/>
          <p:cNvSpPr/>
          <p:nvPr/>
        </p:nvSpPr>
        <p:spPr>
          <a:xfrm>
            <a:off x="868680" y="3246120"/>
            <a:ext cx="3246120" cy="914400"/>
          </a:xfrm>
          <a:prstGeom prst="rect">
            <a:avLst/>
          </a:prstGeom>
          <a:noFill/>
          <a:ln/>
        </p:spPr>
        <p:txBody>
          <a:bodyPr wrap="square" lIns="0" tIns="0" rIns="0" bIns="0" rtlCol="0" anchor="t"/>
          <a:lstStyle/>
          <a:p>
            <a:pPr indent="0" marL="0">
              <a:spcAft>
                <a:spcPts val="400"/>
              </a:spcAft>
              <a:buNone/>
            </a:pPr>
            <a:r>
              <a:rPr lang="en-US" sz="1200" dirty="0">
                <a:solidFill>
                  <a:srgbClr val="64748B"/>
                </a:solidFill>
                <a:latin typeface="Calibri" pitchFamily="34" charset="0"/>
                <a:ea typeface="Calibri" pitchFamily="34" charset="-122"/>
                <a:cs typeface="Calibri" pitchFamily="34" charset="-120"/>
              </a:rPr>
              <a:t>PDFs, Word docs, and images attached to homework and notices. Up to 10 MB per file. Stored securely.</a:t>
            </a:r>
            <a:endParaRPr lang="en-US" sz="1200" dirty="0"/>
          </a:p>
        </p:txBody>
      </p:sp>
      <p:sp>
        <p:nvSpPr>
          <p:cNvPr id="9" name="Shape 7"/>
          <p:cNvSpPr/>
          <p:nvPr/>
        </p:nvSpPr>
        <p:spPr>
          <a:xfrm>
            <a:off x="4434840" y="2606040"/>
            <a:ext cx="3611880" cy="169164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10" name="Shape 8"/>
          <p:cNvSpPr/>
          <p:nvPr/>
        </p:nvSpPr>
        <p:spPr>
          <a:xfrm>
            <a:off x="4434840" y="2606040"/>
            <a:ext cx="73152" cy="1691640"/>
          </a:xfrm>
          <a:prstGeom prst="rect">
            <a:avLst/>
          </a:prstGeom>
          <a:solidFill>
            <a:srgbClr val="1E3A8A"/>
          </a:solidFill>
          <a:ln/>
        </p:spPr>
      </p:sp>
      <p:sp>
        <p:nvSpPr>
          <p:cNvPr id="11" name="Text 9"/>
          <p:cNvSpPr/>
          <p:nvPr/>
        </p:nvSpPr>
        <p:spPr>
          <a:xfrm>
            <a:off x="4663440" y="2770632"/>
            <a:ext cx="3246120" cy="411480"/>
          </a:xfrm>
          <a:prstGeom prst="rect">
            <a:avLst/>
          </a:prstGeom>
          <a:noFill/>
          <a:ln/>
        </p:spPr>
        <p:txBody>
          <a:bodyPr wrap="square" lIns="0" tIns="0" rIns="0" bIns="0" rtlCol="0" anchor="t"/>
          <a:lstStyle/>
          <a:p>
            <a:pPr indent="0" marL="0">
              <a:buNone/>
            </a:pPr>
            <a:r>
              <a:rPr lang="en-US" sz="1600" b="1" dirty="0">
                <a:solidFill>
                  <a:srgbClr val="0F172A"/>
                </a:solidFill>
                <a:latin typeface="Georgia" pitchFamily="34" charset="0"/>
                <a:ea typeface="Georgia" pitchFamily="34" charset="-122"/>
                <a:cs typeface="Georgia" pitchFamily="34" charset="-120"/>
              </a:rPr>
              <a:t>Works Offline (PWA)</a:t>
            </a:r>
            <a:endParaRPr lang="en-US" sz="1600" dirty="0"/>
          </a:p>
        </p:txBody>
      </p:sp>
      <p:sp>
        <p:nvSpPr>
          <p:cNvPr id="12" name="Text 10"/>
          <p:cNvSpPr/>
          <p:nvPr/>
        </p:nvSpPr>
        <p:spPr>
          <a:xfrm>
            <a:off x="4663440" y="3246120"/>
            <a:ext cx="3246120" cy="914400"/>
          </a:xfrm>
          <a:prstGeom prst="rect">
            <a:avLst/>
          </a:prstGeom>
          <a:noFill/>
          <a:ln/>
        </p:spPr>
        <p:txBody>
          <a:bodyPr wrap="square" lIns="0" tIns="0" rIns="0" bIns="0" rtlCol="0" anchor="t"/>
          <a:lstStyle/>
          <a:p>
            <a:pPr indent="0" marL="0">
              <a:spcAft>
                <a:spcPts val="400"/>
              </a:spcAft>
              <a:buNone/>
            </a:pPr>
            <a:r>
              <a:rPr lang="en-US" sz="1200" dirty="0">
                <a:solidFill>
                  <a:srgbClr val="64748B"/>
                </a:solidFill>
                <a:latin typeface="Calibri" pitchFamily="34" charset="0"/>
                <a:ea typeface="Calibri" pitchFamily="34" charset="-122"/>
                <a:cs typeface="Calibri" pitchFamily="34" charset="-120"/>
              </a:rPr>
              <a:t>Parents install EduConnect on their phone like an app. Works even on poor connectivity.</a:t>
            </a:r>
            <a:endParaRPr lang="en-US" sz="1200" dirty="0"/>
          </a:p>
        </p:txBody>
      </p:sp>
      <p:sp>
        <p:nvSpPr>
          <p:cNvPr id="13" name="Shape 11"/>
          <p:cNvSpPr/>
          <p:nvPr/>
        </p:nvSpPr>
        <p:spPr>
          <a:xfrm>
            <a:off x="8229600" y="2606040"/>
            <a:ext cx="3611880" cy="169164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14" name="Shape 12"/>
          <p:cNvSpPr/>
          <p:nvPr/>
        </p:nvSpPr>
        <p:spPr>
          <a:xfrm>
            <a:off x="8229600" y="2606040"/>
            <a:ext cx="73152" cy="1691640"/>
          </a:xfrm>
          <a:prstGeom prst="rect">
            <a:avLst/>
          </a:prstGeom>
          <a:solidFill>
            <a:srgbClr val="F59E0B"/>
          </a:solidFill>
          <a:ln/>
        </p:spPr>
      </p:sp>
      <p:sp>
        <p:nvSpPr>
          <p:cNvPr id="15" name="Text 13"/>
          <p:cNvSpPr/>
          <p:nvPr/>
        </p:nvSpPr>
        <p:spPr>
          <a:xfrm>
            <a:off x="8458200" y="2770632"/>
            <a:ext cx="3246120" cy="411480"/>
          </a:xfrm>
          <a:prstGeom prst="rect">
            <a:avLst/>
          </a:prstGeom>
          <a:noFill/>
          <a:ln/>
        </p:spPr>
        <p:txBody>
          <a:bodyPr wrap="square" lIns="0" tIns="0" rIns="0" bIns="0" rtlCol="0" anchor="t"/>
          <a:lstStyle/>
          <a:p>
            <a:pPr indent="0" marL="0">
              <a:buNone/>
            </a:pPr>
            <a:r>
              <a:rPr lang="en-US" sz="1600" b="1" dirty="0">
                <a:solidFill>
                  <a:srgbClr val="0F172A"/>
                </a:solidFill>
                <a:latin typeface="Georgia" pitchFamily="34" charset="0"/>
                <a:ea typeface="Georgia" pitchFamily="34" charset="-122"/>
                <a:cs typeface="Georgia" pitchFamily="34" charset="-120"/>
              </a:rPr>
              <a:t>In-App Notifications</a:t>
            </a:r>
            <a:endParaRPr lang="en-US" sz="1600" dirty="0"/>
          </a:p>
        </p:txBody>
      </p:sp>
      <p:sp>
        <p:nvSpPr>
          <p:cNvPr id="16" name="Text 14"/>
          <p:cNvSpPr/>
          <p:nvPr/>
        </p:nvSpPr>
        <p:spPr>
          <a:xfrm>
            <a:off x="8458200" y="3246120"/>
            <a:ext cx="3246120" cy="914400"/>
          </a:xfrm>
          <a:prstGeom prst="rect">
            <a:avLst/>
          </a:prstGeom>
          <a:noFill/>
          <a:ln/>
        </p:spPr>
        <p:txBody>
          <a:bodyPr wrap="square" lIns="0" tIns="0" rIns="0" bIns="0" rtlCol="0" anchor="t"/>
          <a:lstStyle/>
          <a:p>
            <a:pPr indent="0" marL="0">
              <a:spcAft>
                <a:spcPts val="400"/>
              </a:spcAft>
              <a:buNone/>
            </a:pPr>
            <a:r>
              <a:rPr lang="en-US" sz="1200" dirty="0">
                <a:solidFill>
                  <a:srgbClr val="64748B"/>
                </a:solidFill>
                <a:latin typeface="Calibri" pitchFamily="34" charset="0"/>
                <a:ea typeface="Calibri" pitchFamily="34" charset="-122"/>
                <a:cs typeface="Calibri" pitchFamily="34" charset="-120"/>
              </a:rPr>
              <a:t>A notification bell with unread counts, recent activity, and one-tap navigation to what matters.</a:t>
            </a:r>
            <a:endParaRPr lang="en-US" sz="1200" dirty="0"/>
          </a:p>
        </p:txBody>
      </p:sp>
      <p:sp>
        <p:nvSpPr>
          <p:cNvPr id="17" name="Shape 15"/>
          <p:cNvSpPr/>
          <p:nvPr/>
        </p:nvSpPr>
        <p:spPr>
          <a:xfrm>
            <a:off x="640080" y="4480560"/>
            <a:ext cx="3611880" cy="169164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18" name="Shape 16"/>
          <p:cNvSpPr/>
          <p:nvPr/>
        </p:nvSpPr>
        <p:spPr>
          <a:xfrm>
            <a:off x="640080" y="4480560"/>
            <a:ext cx="73152" cy="1691640"/>
          </a:xfrm>
          <a:prstGeom prst="rect">
            <a:avLst/>
          </a:prstGeom>
          <a:solidFill>
            <a:srgbClr val="1E3A8A"/>
          </a:solidFill>
          <a:ln/>
        </p:spPr>
      </p:sp>
      <p:sp>
        <p:nvSpPr>
          <p:cNvPr id="19" name="Text 17"/>
          <p:cNvSpPr/>
          <p:nvPr/>
        </p:nvSpPr>
        <p:spPr>
          <a:xfrm>
            <a:off x="868680" y="4645152"/>
            <a:ext cx="3246120" cy="411480"/>
          </a:xfrm>
          <a:prstGeom prst="rect">
            <a:avLst/>
          </a:prstGeom>
          <a:noFill/>
          <a:ln/>
        </p:spPr>
        <p:txBody>
          <a:bodyPr wrap="square" lIns="0" tIns="0" rIns="0" bIns="0" rtlCol="0" anchor="t"/>
          <a:lstStyle/>
          <a:p>
            <a:pPr indent="0" marL="0">
              <a:buNone/>
            </a:pPr>
            <a:r>
              <a:rPr lang="en-US" sz="1600" b="1" dirty="0">
                <a:solidFill>
                  <a:srgbClr val="0F172A"/>
                </a:solidFill>
                <a:latin typeface="Georgia" pitchFamily="34" charset="0"/>
                <a:ea typeface="Georgia" pitchFamily="34" charset="-122"/>
                <a:cs typeface="Georgia" pitchFamily="34" charset="-120"/>
              </a:rPr>
              <a:t>Leave Application Flow</a:t>
            </a:r>
            <a:endParaRPr lang="en-US" sz="1600" dirty="0"/>
          </a:p>
        </p:txBody>
      </p:sp>
      <p:sp>
        <p:nvSpPr>
          <p:cNvPr id="20" name="Text 18"/>
          <p:cNvSpPr/>
          <p:nvPr/>
        </p:nvSpPr>
        <p:spPr>
          <a:xfrm>
            <a:off x="868680" y="5120640"/>
            <a:ext cx="3246120" cy="914400"/>
          </a:xfrm>
          <a:prstGeom prst="rect">
            <a:avLst/>
          </a:prstGeom>
          <a:noFill/>
          <a:ln/>
        </p:spPr>
        <p:txBody>
          <a:bodyPr wrap="square" lIns="0" tIns="0" rIns="0" bIns="0" rtlCol="0" anchor="t"/>
          <a:lstStyle/>
          <a:p>
            <a:pPr indent="0" marL="0">
              <a:spcAft>
                <a:spcPts val="400"/>
              </a:spcAft>
              <a:buNone/>
            </a:pPr>
            <a:r>
              <a:rPr lang="en-US" sz="1200" dirty="0">
                <a:solidFill>
                  <a:srgbClr val="64748B"/>
                </a:solidFill>
                <a:latin typeface="Calibri" pitchFamily="34" charset="0"/>
                <a:ea typeface="Calibri" pitchFamily="34" charset="-122"/>
                <a:cs typeface="Calibri" pitchFamily="34" charset="-120"/>
              </a:rPr>
              <a:t>Parents submit leave with reason and dates. Admins approve or reject in one click.</a:t>
            </a:r>
            <a:endParaRPr lang="en-US" sz="1200" dirty="0"/>
          </a:p>
        </p:txBody>
      </p:sp>
      <p:sp>
        <p:nvSpPr>
          <p:cNvPr id="21" name="Shape 19"/>
          <p:cNvSpPr/>
          <p:nvPr/>
        </p:nvSpPr>
        <p:spPr>
          <a:xfrm>
            <a:off x="4434840" y="4480560"/>
            <a:ext cx="3611880" cy="169164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22" name="Shape 20"/>
          <p:cNvSpPr/>
          <p:nvPr/>
        </p:nvSpPr>
        <p:spPr>
          <a:xfrm>
            <a:off x="4434840" y="4480560"/>
            <a:ext cx="73152" cy="1691640"/>
          </a:xfrm>
          <a:prstGeom prst="rect">
            <a:avLst/>
          </a:prstGeom>
          <a:solidFill>
            <a:srgbClr val="1E3A8A"/>
          </a:solidFill>
          <a:ln/>
        </p:spPr>
      </p:sp>
      <p:sp>
        <p:nvSpPr>
          <p:cNvPr id="23" name="Text 21"/>
          <p:cNvSpPr/>
          <p:nvPr/>
        </p:nvSpPr>
        <p:spPr>
          <a:xfrm>
            <a:off x="4663440" y="4645152"/>
            <a:ext cx="3246120" cy="411480"/>
          </a:xfrm>
          <a:prstGeom prst="rect">
            <a:avLst/>
          </a:prstGeom>
          <a:noFill/>
          <a:ln/>
        </p:spPr>
        <p:txBody>
          <a:bodyPr wrap="square" lIns="0" tIns="0" rIns="0" bIns="0" rtlCol="0" anchor="t"/>
          <a:lstStyle/>
          <a:p>
            <a:pPr indent="0" marL="0">
              <a:buNone/>
            </a:pPr>
            <a:r>
              <a:rPr lang="en-US" sz="1600" b="1" dirty="0">
                <a:solidFill>
                  <a:srgbClr val="0F172A"/>
                </a:solidFill>
                <a:latin typeface="Georgia" pitchFamily="34" charset="0"/>
                <a:ea typeface="Georgia" pitchFamily="34" charset="-122"/>
                <a:cs typeface="Georgia" pitchFamily="34" charset="-120"/>
              </a:rPr>
              <a:t>Multi-School Ready</a:t>
            </a:r>
            <a:endParaRPr lang="en-US" sz="1600" dirty="0"/>
          </a:p>
        </p:txBody>
      </p:sp>
      <p:sp>
        <p:nvSpPr>
          <p:cNvPr id="24" name="Text 22"/>
          <p:cNvSpPr/>
          <p:nvPr/>
        </p:nvSpPr>
        <p:spPr>
          <a:xfrm>
            <a:off x="4663440" y="5120640"/>
            <a:ext cx="3246120" cy="914400"/>
          </a:xfrm>
          <a:prstGeom prst="rect">
            <a:avLst/>
          </a:prstGeom>
          <a:noFill/>
          <a:ln/>
        </p:spPr>
        <p:txBody>
          <a:bodyPr wrap="square" lIns="0" tIns="0" rIns="0" bIns="0" rtlCol="0" anchor="t"/>
          <a:lstStyle/>
          <a:p>
            <a:pPr indent="0" marL="0">
              <a:spcAft>
                <a:spcPts val="400"/>
              </a:spcAft>
              <a:buNone/>
            </a:pPr>
            <a:r>
              <a:rPr lang="en-US" sz="1200" dirty="0">
                <a:solidFill>
                  <a:srgbClr val="64748B"/>
                </a:solidFill>
                <a:latin typeface="Calibri" pitchFamily="34" charset="0"/>
                <a:ea typeface="Calibri" pitchFamily="34" charset="-122"/>
                <a:cs typeface="Calibri" pitchFamily="34" charset="-120"/>
              </a:rPr>
              <a:t>Deploy one system, host multiple branches — each one fully isolated from the others.</a:t>
            </a:r>
            <a:endParaRPr lang="en-US" sz="1200" dirty="0"/>
          </a:p>
        </p:txBody>
      </p:sp>
      <p:sp>
        <p:nvSpPr>
          <p:cNvPr id="25" name="Shape 23"/>
          <p:cNvSpPr/>
          <p:nvPr/>
        </p:nvSpPr>
        <p:spPr>
          <a:xfrm>
            <a:off x="8229600" y="4480560"/>
            <a:ext cx="3611880" cy="169164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26" name="Shape 24"/>
          <p:cNvSpPr/>
          <p:nvPr/>
        </p:nvSpPr>
        <p:spPr>
          <a:xfrm>
            <a:off x="8229600" y="4480560"/>
            <a:ext cx="73152" cy="1691640"/>
          </a:xfrm>
          <a:prstGeom prst="rect">
            <a:avLst/>
          </a:prstGeom>
          <a:solidFill>
            <a:srgbClr val="1E3A8A"/>
          </a:solidFill>
          <a:ln/>
        </p:spPr>
      </p:sp>
      <p:sp>
        <p:nvSpPr>
          <p:cNvPr id="27" name="Text 25"/>
          <p:cNvSpPr/>
          <p:nvPr/>
        </p:nvSpPr>
        <p:spPr>
          <a:xfrm>
            <a:off x="8458200" y="4645152"/>
            <a:ext cx="3246120" cy="411480"/>
          </a:xfrm>
          <a:prstGeom prst="rect">
            <a:avLst/>
          </a:prstGeom>
          <a:noFill/>
          <a:ln/>
        </p:spPr>
        <p:txBody>
          <a:bodyPr wrap="square" lIns="0" tIns="0" rIns="0" bIns="0" rtlCol="0" anchor="t"/>
          <a:lstStyle/>
          <a:p>
            <a:pPr indent="0" marL="0">
              <a:buNone/>
            </a:pPr>
            <a:r>
              <a:rPr lang="en-US" sz="1600" b="1" dirty="0">
                <a:solidFill>
                  <a:srgbClr val="0F172A"/>
                </a:solidFill>
                <a:latin typeface="Georgia" pitchFamily="34" charset="0"/>
                <a:ea typeface="Georgia" pitchFamily="34" charset="-122"/>
                <a:cs typeface="Georgia" pitchFamily="34" charset="-120"/>
              </a:rPr>
              <a:t>Role-Based Access</a:t>
            </a:r>
            <a:endParaRPr lang="en-US" sz="1600" dirty="0"/>
          </a:p>
        </p:txBody>
      </p:sp>
      <p:sp>
        <p:nvSpPr>
          <p:cNvPr id="28" name="Text 26"/>
          <p:cNvSpPr/>
          <p:nvPr/>
        </p:nvSpPr>
        <p:spPr>
          <a:xfrm>
            <a:off x="8458200" y="5120640"/>
            <a:ext cx="3246120" cy="914400"/>
          </a:xfrm>
          <a:prstGeom prst="rect">
            <a:avLst/>
          </a:prstGeom>
          <a:noFill/>
          <a:ln/>
        </p:spPr>
        <p:txBody>
          <a:bodyPr wrap="square" lIns="0" tIns="0" rIns="0" bIns="0" rtlCol="0" anchor="t"/>
          <a:lstStyle/>
          <a:p>
            <a:pPr indent="0" marL="0">
              <a:spcAft>
                <a:spcPts val="400"/>
              </a:spcAft>
              <a:buNone/>
            </a:pPr>
            <a:r>
              <a:rPr lang="en-US" sz="1200" dirty="0">
                <a:solidFill>
                  <a:srgbClr val="64748B"/>
                </a:solidFill>
                <a:latin typeface="Calibri" pitchFamily="34" charset="0"/>
                <a:ea typeface="Calibri" pitchFamily="34" charset="-122"/>
                <a:cs typeface="Calibri" pitchFamily="34" charset="-120"/>
              </a:rPr>
              <a:t>Every endpoint is permission-checked. A parent cannot see another child. A teacher cannot see another class.</a:t>
            </a:r>
            <a:endParaRPr lang="en-US" sz="1200" dirty="0"/>
          </a:p>
        </p:txBody>
      </p:sp>
      <p:sp>
        <p:nvSpPr>
          <p:cNvPr id="29" name="Shape 27"/>
          <p:cNvSpPr/>
          <p:nvPr/>
        </p:nvSpPr>
        <p:spPr>
          <a:xfrm>
            <a:off x="457200" y="6446520"/>
            <a:ext cx="11247120" cy="0"/>
          </a:xfrm>
          <a:prstGeom prst="line">
            <a:avLst/>
          </a:prstGeom>
          <a:noFill/>
          <a:ln w="9525">
            <a:solidFill>
              <a:srgbClr val="E2E8F0"/>
            </a:solidFill>
            <a:prstDash val="solid"/>
          </a:ln>
        </p:spPr>
      </p:sp>
      <p:sp>
        <p:nvSpPr>
          <p:cNvPr id="30" name="Text 28"/>
          <p:cNvSpPr/>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EduConnect  |  FBT — Future Beyond Technology</a:t>
            </a:r>
            <a:endParaRPr lang="en-US" sz="900" dirty="0"/>
          </a:p>
        </p:txBody>
      </p:sp>
      <p:sp>
        <p:nvSpPr>
          <p:cNvPr id="31" name="Text 29"/>
          <p:cNvSpPr/>
          <p:nvPr/>
        </p:nvSpPr>
        <p:spPr>
          <a:xfrm>
            <a:off x="10972800" y="653796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E3D"/>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400" kern="0" dirty="0">
                <a:solidFill>
                  <a:srgbClr val="F59E0B"/>
                </a:solidFill>
                <a:latin typeface="Calibri" pitchFamily="34" charset="0"/>
                <a:ea typeface="Calibri" pitchFamily="34" charset="-122"/>
                <a:cs typeface="Calibri" pitchFamily="34" charset="-120"/>
              </a:rPr>
              <a:t>BUILT ON TRUST</a:t>
            </a:r>
            <a:endParaRPr lang="en-US" sz="1100" dirty="0"/>
          </a:p>
        </p:txBody>
      </p:sp>
      <p:sp>
        <p:nvSpPr>
          <p:cNvPr id="3" name="Text 1"/>
          <p:cNvSpPr/>
          <p:nvPr/>
        </p:nvSpPr>
        <p:spPr>
          <a:xfrm>
            <a:off x="640080" y="822960"/>
            <a:ext cx="10972800" cy="91440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Your school's data, protected by design.</a:t>
            </a:r>
            <a:endParaRPr lang="en-US" sz="3600" dirty="0"/>
          </a:p>
        </p:txBody>
      </p:sp>
      <p:sp>
        <p:nvSpPr>
          <p:cNvPr id="4" name="Text 2"/>
          <p:cNvSpPr/>
          <p:nvPr/>
        </p:nvSpPr>
        <p:spPr>
          <a:xfrm>
            <a:off x="640080" y="1874520"/>
            <a:ext cx="10972800" cy="64008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We built EduConnect with the same security practices used by banks and healthcare platforms — because your students' data deserves nothing less.</a:t>
            </a:r>
            <a:endParaRPr lang="en-US" sz="1400" dirty="0"/>
          </a:p>
        </p:txBody>
      </p:sp>
      <p:sp>
        <p:nvSpPr>
          <p:cNvPr id="5" name="Shape 3"/>
          <p:cNvSpPr/>
          <p:nvPr/>
        </p:nvSpPr>
        <p:spPr>
          <a:xfrm>
            <a:off x="640080" y="2761488"/>
            <a:ext cx="457200" cy="457200"/>
          </a:xfrm>
          <a:prstGeom prst="ellipse">
            <a:avLst/>
          </a:prstGeom>
          <a:solidFill>
            <a:srgbClr val="F59E0B"/>
          </a:solidFill>
          <a:ln/>
        </p:spPr>
      </p:sp>
      <p:sp>
        <p:nvSpPr>
          <p:cNvPr id="6" name="Text 4"/>
          <p:cNvSpPr/>
          <p:nvPr/>
        </p:nvSpPr>
        <p:spPr>
          <a:xfrm>
            <a:off x="640080" y="2761488"/>
            <a:ext cx="457200" cy="457200"/>
          </a:xfrm>
          <a:prstGeom prst="rect">
            <a:avLst/>
          </a:prstGeom>
          <a:noFill/>
          <a:ln/>
        </p:spPr>
        <p:txBody>
          <a:bodyPr wrap="square" lIns="0" tIns="0" rIns="0" bIns="0" rtlCol="0" anchor="ctr"/>
          <a:lstStyle/>
          <a:p>
            <a:pPr algn="ctr" indent="0" marL="0">
              <a:buNone/>
            </a:pPr>
            <a:r>
              <a:rPr lang="en-US" sz="2000" b="1" dirty="0">
                <a:solidFill>
                  <a:srgbClr val="0F1E3D"/>
                </a:solidFill>
                <a:latin typeface="Georgia" pitchFamily="34" charset="0"/>
                <a:ea typeface="Georgia" pitchFamily="34" charset="-122"/>
                <a:cs typeface="Georgia" pitchFamily="34" charset="-120"/>
              </a:rPr>
              <a:t>✓</a:t>
            </a:r>
            <a:endParaRPr lang="en-US" sz="2000" dirty="0"/>
          </a:p>
        </p:txBody>
      </p:sp>
      <p:sp>
        <p:nvSpPr>
          <p:cNvPr id="7" name="Text 5"/>
          <p:cNvSpPr/>
          <p:nvPr/>
        </p:nvSpPr>
        <p:spPr>
          <a:xfrm>
            <a:off x="1280160" y="2724912"/>
            <a:ext cx="4663440" cy="36576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Encrypted passwords</a:t>
            </a:r>
            <a:endParaRPr lang="en-US" sz="1500" dirty="0"/>
          </a:p>
        </p:txBody>
      </p:sp>
      <p:sp>
        <p:nvSpPr>
          <p:cNvPr id="8" name="Text 6"/>
          <p:cNvSpPr/>
          <p:nvPr/>
        </p:nvSpPr>
        <p:spPr>
          <a:xfrm>
            <a:off x="1280160" y="3108960"/>
            <a:ext cx="4663440" cy="64008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Industry-standard Bcrypt hashing. Even we cannot see your passwords.</a:t>
            </a:r>
            <a:endParaRPr lang="en-US" sz="1200" dirty="0"/>
          </a:p>
        </p:txBody>
      </p:sp>
      <p:sp>
        <p:nvSpPr>
          <p:cNvPr id="9" name="Shape 7"/>
          <p:cNvSpPr/>
          <p:nvPr/>
        </p:nvSpPr>
        <p:spPr>
          <a:xfrm>
            <a:off x="6309360" y="2761488"/>
            <a:ext cx="457200" cy="457200"/>
          </a:xfrm>
          <a:prstGeom prst="ellipse">
            <a:avLst/>
          </a:prstGeom>
          <a:solidFill>
            <a:srgbClr val="F59E0B"/>
          </a:solidFill>
          <a:ln/>
        </p:spPr>
      </p:sp>
      <p:sp>
        <p:nvSpPr>
          <p:cNvPr id="10" name="Text 8"/>
          <p:cNvSpPr/>
          <p:nvPr/>
        </p:nvSpPr>
        <p:spPr>
          <a:xfrm>
            <a:off x="6309360" y="2761488"/>
            <a:ext cx="457200" cy="457200"/>
          </a:xfrm>
          <a:prstGeom prst="rect">
            <a:avLst/>
          </a:prstGeom>
          <a:noFill/>
          <a:ln/>
        </p:spPr>
        <p:txBody>
          <a:bodyPr wrap="square" lIns="0" tIns="0" rIns="0" bIns="0" rtlCol="0" anchor="ctr"/>
          <a:lstStyle/>
          <a:p>
            <a:pPr algn="ctr" indent="0" marL="0">
              <a:buNone/>
            </a:pPr>
            <a:r>
              <a:rPr lang="en-US" sz="2000" b="1" dirty="0">
                <a:solidFill>
                  <a:srgbClr val="0F1E3D"/>
                </a:solidFill>
                <a:latin typeface="Georgia" pitchFamily="34" charset="0"/>
                <a:ea typeface="Georgia" pitchFamily="34" charset="-122"/>
                <a:cs typeface="Georgia" pitchFamily="34" charset="-120"/>
              </a:rPr>
              <a:t>✓</a:t>
            </a:r>
            <a:endParaRPr lang="en-US" sz="2000" dirty="0"/>
          </a:p>
        </p:txBody>
      </p:sp>
      <p:sp>
        <p:nvSpPr>
          <p:cNvPr id="11" name="Text 9"/>
          <p:cNvSpPr/>
          <p:nvPr/>
        </p:nvSpPr>
        <p:spPr>
          <a:xfrm>
            <a:off x="6949440" y="2724912"/>
            <a:ext cx="4663440" cy="36576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JWT authentication</a:t>
            </a:r>
            <a:endParaRPr lang="en-US" sz="1500" dirty="0"/>
          </a:p>
        </p:txBody>
      </p:sp>
      <p:sp>
        <p:nvSpPr>
          <p:cNvPr id="12" name="Text 10"/>
          <p:cNvSpPr/>
          <p:nvPr/>
        </p:nvSpPr>
        <p:spPr>
          <a:xfrm>
            <a:off x="6949440" y="3108960"/>
            <a:ext cx="4663440" cy="64008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Short-lived access tokens, silent refresh, automatic logout.</a:t>
            </a:r>
            <a:endParaRPr lang="en-US" sz="1200" dirty="0"/>
          </a:p>
        </p:txBody>
      </p:sp>
      <p:sp>
        <p:nvSpPr>
          <p:cNvPr id="13" name="Shape 11"/>
          <p:cNvSpPr/>
          <p:nvPr/>
        </p:nvSpPr>
        <p:spPr>
          <a:xfrm>
            <a:off x="640080" y="4041648"/>
            <a:ext cx="457200" cy="457200"/>
          </a:xfrm>
          <a:prstGeom prst="ellipse">
            <a:avLst/>
          </a:prstGeom>
          <a:solidFill>
            <a:srgbClr val="F59E0B"/>
          </a:solidFill>
          <a:ln/>
        </p:spPr>
      </p:sp>
      <p:sp>
        <p:nvSpPr>
          <p:cNvPr id="14" name="Text 12"/>
          <p:cNvSpPr/>
          <p:nvPr/>
        </p:nvSpPr>
        <p:spPr>
          <a:xfrm>
            <a:off x="640080" y="4041648"/>
            <a:ext cx="457200" cy="457200"/>
          </a:xfrm>
          <a:prstGeom prst="rect">
            <a:avLst/>
          </a:prstGeom>
          <a:noFill/>
          <a:ln/>
        </p:spPr>
        <p:txBody>
          <a:bodyPr wrap="square" lIns="0" tIns="0" rIns="0" bIns="0" rtlCol="0" anchor="ctr"/>
          <a:lstStyle/>
          <a:p>
            <a:pPr algn="ctr" indent="0" marL="0">
              <a:buNone/>
            </a:pPr>
            <a:r>
              <a:rPr lang="en-US" sz="2000" b="1" dirty="0">
                <a:solidFill>
                  <a:srgbClr val="0F1E3D"/>
                </a:solidFill>
                <a:latin typeface="Georgia" pitchFamily="34" charset="0"/>
                <a:ea typeface="Georgia" pitchFamily="34" charset="-122"/>
                <a:cs typeface="Georgia" pitchFamily="34" charset="-120"/>
              </a:rPr>
              <a:t>✓</a:t>
            </a:r>
            <a:endParaRPr lang="en-US" sz="2000" dirty="0"/>
          </a:p>
        </p:txBody>
      </p:sp>
      <p:sp>
        <p:nvSpPr>
          <p:cNvPr id="15" name="Text 13"/>
          <p:cNvSpPr/>
          <p:nvPr/>
        </p:nvSpPr>
        <p:spPr>
          <a:xfrm>
            <a:off x="1280160" y="4005072"/>
            <a:ext cx="4663440" cy="36576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Rate limiting</a:t>
            </a:r>
            <a:endParaRPr lang="en-US" sz="1500" dirty="0"/>
          </a:p>
        </p:txBody>
      </p:sp>
      <p:sp>
        <p:nvSpPr>
          <p:cNvPr id="16" name="Text 14"/>
          <p:cNvSpPr/>
          <p:nvPr/>
        </p:nvSpPr>
        <p:spPr>
          <a:xfrm>
            <a:off x="1280160" y="4389120"/>
            <a:ext cx="4663440" cy="64008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60 requests per minute per user. Blocks brute force and abuse.</a:t>
            </a:r>
            <a:endParaRPr lang="en-US" sz="1200" dirty="0"/>
          </a:p>
        </p:txBody>
      </p:sp>
      <p:sp>
        <p:nvSpPr>
          <p:cNvPr id="17" name="Shape 15"/>
          <p:cNvSpPr/>
          <p:nvPr/>
        </p:nvSpPr>
        <p:spPr>
          <a:xfrm>
            <a:off x="6309360" y="4041648"/>
            <a:ext cx="457200" cy="457200"/>
          </a:xfrm>
          <a:prstGeom prst="ellipse">
            <a:avLst/>
          </a:prstGeom>
          <a:solidFill>
            <a:srgbClr val="F59E0B"/>
          </a:solidFill>
          <a:ln/>
        </p:spPr>
      </p:sp>
      <p:sp>
        <p:nvSpPr>
          <p:cNvPr id="18" name="Text 16"/>
          <p:cNvSpPr/>
          <p:nvPr/>
        </p:nvSpPr>
        <p:spPr>
          <a:xfrm>
            <a:off x="6309360" y="4041648"/>
            <a:ext cx="457200" cy="457200"/>
          </a:xfrm>
          <a:prstGeom prst="rect">
            <a:avLst/>
          </a:prstGeom>
          <a:noFill/>
          <a:ln/>
        </p:spPr>
        <p:txBody>
          <a:bodyPr wrap="square" lIns="0" tIns="0" rIns="0" bIns="0" rtlCol="0" anchor="ctr"/>
          <a:lstStyle/>
          <a:p>
            <a:pPr algn="ctr" indent="0" marL="0">
              <a:buNone/>
            </a:pPr>
            <a:r>
              <a:rPr lang="en-US" sz="2000" b="1" dirty="0">
                <a:solidFill>
                  <a:srgbClr val="0F1E3D"/>
                </a:solidFill>
                <a:latin typeface="Georgia" pitchFamily="34" charset="0"/>
                <a:ea typeface="Georgia" pitchFamily="34" charset="-122"/>
                <a:cs typeface="Georgia" pitchFamily="34" charset="-120"/>
              </a:rPr>
              <a:t>✓</a:t>
            </a:r>
            <a:endParaRPr lang="en-US" sz="2000" dirty="0"/>
          </a:p>
        </p:txBody>
      </p:sp>
      <p:sp>
        <p:nvSpPr>
          <p:cNvPr id="19" name="Text 17"/>
          <p:cNvSpPr/>
          <p:nvPr/>
        </p:nvSpPr>
        <p:spPr>
          <a:xfrm>
            <a:off x="6949440" y="4005072"/>
            <a:ext cx="4663440" cy="36576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Multi-tenant isolation</a:t>
            </a:r>
            <a:endParaRPr lang="en-US" sz="1500" dirty="0"/>
          </a:p>
        </p:txBody>
      </p:sp>
      <p:sp>
        <p:nvSpPr>
          <p:cNvPr id="20" name="Text 18"/>
          <p:cNvSpPr/>
          <p:nvPr/>
        </p:nvSpPr>
        <p:spPr>
          <a:xfrm>
            <a:off x="6949440" y="4389120"/>
            <a:ext cx="4663440" cy="64008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Row-level isolation. Your data never touches another school's.</a:t>
            </a:r>
            <a:endParaRPr lang="en-US" sz="1200" dirty="0"/>
          </a:p>
        </p:txBody>
      </p:sp>
      <p:sp>
        <p:nvSpPr>
          <p:cNvPr id="21" name="Shape 19"/>
          <p:cNvSpPr/>
          <p:nvPr/>
        </p:nvSpPr>
        <p:spPr>
          <a:xfrm>
            <a:off x="640080" y="5321808"/>
            <a:ext cx="457200" cy="457200"/>
          </a:xfrm>
          <a:prstGeom prst="ellipse">
            <a:avLst/>
          </a:prstGeom>
          <a:solidFill>
            <a:srgbClr val="F59E0B"/>
          </a:solidFill>
          <a:ln/>
        </p:spPr>
      </p:sp>
      <p:sp>
        <p:nvSpPr>
          <p:cNvPr id="22" name="Text 20"/>
          <p:cNvSpPr/>
          <p:nvPr/>
        </p:nvSpPr>
        <p:spPr>
          <a:xfrm>
            <a:off x="640080" y="5321808"/>
            <a:ext cx="457200" cy="457200"/>
          </a:xfrm>
          <a:prstGeom prst="rect">
            <a:avLst/>
          </a:prstGeom>
          <a:noFill/>
          <a:ln/>
        </p:spPr>
        <p:txBody>
          <a:bodyPr wrap="square" lIns="0" tIns="0" rIns="0" bIns="0" rtlCol="0" anchor="ctr"/>
          <a:lstStyle/>
          <a:p>
            <a:pPr algn="ctr" indent="0" marL="0">
              <a:buNone/>
            </a:pPr>
            <a:r>
              <a:rPr lang="en-US" sz="2000" b="1" dirty="0">
                <a:solidFill>
                  <a:srgbClr val="0F1E3D"/>
                </a:solidFill>
                <a:latin typeface="Georgia" pitchFamily="34" charset="0"/>
                <a:ea typeface="Georgia" pitchFamily="34" charset="-122"/>
                <a:cs typeface="Georgia" pitchFamily="34" charset="-120"/>
              </a:rPr>
              <a:t>✓</a:t>
            </a:r>
            <a:endParaRPr lang="en-US" sz="2000" dirty="0"/>
          </a:p>
        </p:txBody>
      </p:sp>
      <p:sp>
        <p:nvSpPr>
          <p:cNvPr id="23" name="Text 21"/>
          <p:cNvSpPr/>
          <p:nvPr/>
        </p:nvSpPr>
        <p:spPr>
          <a:xfrm>
            <a:off x="1280160" y="5285232"/>
            <a:ext cx="4663440" cy="36576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Audit logging</a:t>
            </a:r>
            <a:endParaRPr lang="en-US" sz="1500" dirty="0"/>
          </a:p>
        </p:txBody>
      </p:sp>
      <p:sp>
        <p:nvSpPr>
          <p:cNvPr id="24" name="Text 22"/>
          <p:cNvSpPr/>
          <p:nvPr/>
        </p:nvSpPr>
        <p:spPr>
          <a:xfrm>
            <a:off x="1280160" y="5669280"/>
            <a:ext cx="4663440" cy="64008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Every action logged with a correlation ID. Sensitive fields redacted.</a:t>
            </a:r>
            <a:endParaRPr lang="en-US" sz="1200" dirty="0"/>
          </a:p>
        </p:txBody>
      </p:sp>
      <p:sp>
        <p:nvSpPr>
          <p:cNvPr id="25" name="Shape 23"/>
          <p:cNvSpPr/>
          <p:nvPr/>
        </p:nvSpPr>
        <p:spPr>
          <a:xfrm>
            <a:off x="6309360" y="5321808"/>
            <a:ext cx="457200" cy="457200"/>
          </a:xfrm>
          <a:prstGeom prst="ellipse">
            <a:avLst/>
          </a:prstGeom>
          <a:solidFill>
            <a:srgbClr val="F59E0B"/>
          </a:solidFill>
          <a:ln/>
        </p:spPr>
      </p:sp>
      <p:sp>
        <p:nvSpPr>
          <p:cNvPr id="26" name="Text 24"/>
          <p:cNvSpPr/>
          <p:nvPr/>
        </p:nvSpPr>
        <p:spPr>
          <a:xfrm>
            <a:off x="6309360" y="5321808"/>
            <a:ext cx="457200" cy="457200"/>
          </a:xfrm>
          <a:prstGeom prst="rect">
            <a:avLst/>
          </a:prstGeom>
          <a:noFill/>
          <a:ln/>
        </p:spPr>
        <p:txBody>
          <a:bodyPr wrap="square" lIns="0" tIns="0" rIns="0" bIns="0" rtlCol="0" anchor="ctr"/>
          <a:lstStyle/>
          <a:p>
            <a:pPr algn="ctr" indent="0" marL="0">
              <a:buNone/>
            </a:pPr>
            <a:r>
              <a:rPr lang="en-US" sz="2000" b="1" dirty="0">
                <a:solidFill>
                  <a:srgbClr val="0F1E3D"/>
                </a:solidFill>
                <a:latin typeface="Georgia" pitchFamily="34" charset="0"/>
                <a:ea typeface="Georgia" pitchFamily="34" charset="-122"/>
                <a:cs typeface="Georgia" pitchFamily="34" charset="-120"/>
              </a:rPr>
              <a:t>✓</a:t>
            </a:r>
            <a:endParaRPr lang="en-US" sz="2000" dirty="0"/>
          </a:p>
        </p:txBody>
      </p:sp>
      <p:sp>
        <p:nvSpPr>
          <p:cNvPr id="27" name="Text 25"/>
          <p:cNvSpPr/>
          <p:nvPr/>
        </p:nvSpPr>
        <p:spPr>
          <a:xfrm>
            <a:off x="6949440" y="5285232"/>
            <a:ext cx="4663440" cy="36576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Error monitoring</a:t>
            </a:r>
            <a:endParaRPr lang="en-US" sz="1500" dirty="0"/>
          </a:p>
        </p:txBody>
      </p:sp>
      <p:sp>
        <p:nvSpPr>
          <p:cNvPr id="28" name="Text 26"/>
          <p:cNvSpPr/>
          <p:nvPr/>
        </p:nvSpPr>
        <p:spPr>
          <a:xfrm>
            <a:off x="6949440" y="5669280"/>
            <a:ext cx="4663440" cy="64008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Every crash or anomaly surfaces in real time, for fast fixes.</a:t>
            </a:r>
            <a:endParaRPr lang="en-US" sz="1200" dirty="0"/>
          </a:p>
        </p:txBody>
      </p:sp>
      <p:sp>
        <p:nvSpPr>
          <p:cNvPr id="29" name="Shape 27"/>
          <p:cNvSpPr/>
          <p:nvPr/>
        </p:nvSpPr>
        <p:spPr>
          <a:xfrm>
            <a:off x="457200" y="6446520"/>
            <a:ext cx="11247120" cy="0"/>
          </a:xfrm>
          <a:prstGeom prst="line">
            <a:avLst/>
          </a:prstGeom>
          <a:noFill/>
          <a:ln w="9525">
            <a:solidFill>
              <a:srgbClr val="334155"/>
            </a:solidFill>
            <a:prstDash val="solid"/>
          </a:ln>
        </p:spPr>
      </p:sp>
      <p:sp>
        <p:nvSpPr>
          <p:cNvPr id="30" name="Text 28"/>
          <p:cNvSpPr/>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EduConnect  |  FBT — Future Beyond Technology</a:t>
            </a:r>
            <a:endParaRPr lang="en-US" sz="900" dirty="0"/>
          </a:p>
        </p:txBody>
      </p:sp>
      <p:sp>
        <p:nvSpPr>
          <p:cNvPr id="31" name="Text 29"/>
          <p:cNvSpPr/>
          <p:nvPr/>
        </p:nvSpPr>
        <p:spPr>
          <a:xfrm>
            <a:off x="10972800" y="6537960"/>
            <a:ext cx="73152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400" kern="0" dirty="0">
                <a:solidFill>
                  <a:srgbClr val="0EA5E9"/>
                </a:solidFill>
                <a:latin typeface="Calibri" pitchFamily="34" charset="0"/>
                <a:ea typeface="Calibri" pitchFamily="34" charset="-122"/>
                <a:cs typeface="Calibri" pitchFamily="34" charset="-120"/>
              </a:rPr>
              <a:t>WHY EDUCONNECT</a:t>
            </a:r>
            <a:endParaRPr lang="en-US" sz="1100" dirty="0"/>
          </a:p>
        </p:txBody>
      </p:sp>
      <p:sp>
        <p:nvSpPr>
          <p:cNvPr id="3" name="Text 1"/>
          <p:cNvSpPr/>
          <p:nvPr/>
        </p:nvSpPr>
        <p:spPr>
          <a:xfrm>
            <a:off x="640080" y="822960"/>
            <a:ext cx="10972800" cy="914400"/>
          </a:xfrm>
          <a:prstGeom prst="rect">
            <a:avLst/>
          </a:prstGeom>
          <a:noFill/>
          <a:ln/>
        </p:spPr>
        <p:txBody>
          <a:bodyPr wrap="square" lIns="0" tIns="0" rIns="0" bIns="0" rtlCol="0" anchor="t"/>
          <a:lstStyle/>
          <a:p>
            <a:pPr indent="0" marL="0">
              <a:buNone/>
            </a:pPr>
            <a:r>
              <a:rPr lang="en-US" sz="3600" b="1" dirty="0">
                <a:solidFill>
                  <a:srgbClr val="0F172A"/>
                </a:solidFill>
                <a:latin typeface="Georgia" pitchFamily="34" charset="0"/>
                <a:ea typeface="Georgia" pitchFamily="34" charset="-122"/>
                <a:cs typeface="Georgia" pitchFamily="34" charset="-120"/>
              </a:rPr>
              <a:t>Not just another school app.</a:t>
            </a:r>
            <a:endParaRPr lang="en-US" sz="3600" dirty="0"/>
          </a:p>
        </p:txBody>
      </p:sp>
      <p:sp>
        <p:nvSpPr>
          <p:cNvPr id="4" name="Shape 2"/>
          <p:cNvSpPr/>
          <p:nvPr/>
        </p:nvSpPr>
        <p:spPr>
          <a:xfrm>
            <a:off x="640080" y="2103120"/>
            <a:ext cx="5303520" cy="3931920"/>
          </a:xfrm>
          <a:prstGeom prst="rect">
            <a:avLst/>
          </a:prstGeom>
          <a:solidFill>
            <a:srgbClr val="F8FAFC"/>
          </a:solidFill>
          <a:ln w="6350">
            <a:solidFill>
              <a:srgbClr val="E2E8F0"/>
            </a:solidFill>
            <a:prstDash val="solid"/>
          </a:ln>
        </p:spPr>
      </p:sp>
      <p:sp>
        <p:nvSpPr>
          <p:cNvPr id="5" name="Shape 3"/>
          <p:cNvSpPr/>
          <p:nvPr/>
        </p:nvSpPr>
        <p:spPr>
          <a:xfrm>
            <a:off x="640080" y="2103120"/>
            <a:ext cx="5303520" cy="109728"/>
          </a:xfrm>
          <a:prstGeom prst="rect">
            <a:avLst/>
          </a:prstGeom>
          <a:solidFill>
            <a:srgbClr val="64748B"/>
          </a:solidFill>
          <a:ln/>
        </p:spPr>
      </p:sp>
      <p:sp>
        <p:nvSpPr>
          <p:cNvPr id="6" name="Text 4"/>
          <p:cNvSpPr/>
          <p:nvPr/>
        </p:nvSpPr>
        <p:spPr>
          <a:xfrm>
            <a:off x="640080" y="2377440"/>
            <a:ext cx="5303520" cy="320040"/>
          </a:xfrm>
          <a:prstGeom prst="rect">
            <a:avLst/>
          </a:prstGeom>
          <a:noFill/>
          <a:ln/>
        </p:spPr>
        <p:txBody>
          <a:bodyPr wrap="square" lIns="0" tIns="0" rIns="0" bIns="0" rtlCol="0" anchor="ctr"/>
          <a:lstStyle/>
          <a:p>
            <a:pPr algn="ctr" indent="0" marL="0">
              <a:buNone/>
            </a:pPr>
            <a:r>
              <a:rPr lang="en-US" sz="1100" b="1" spc="500" kern="0" dirty="0">
                <a:solidFill>
                  <a:srgbClr val="64748B"/>
                </a:solidFill>
                <a:latin typeface="Calibri" pitchFamily="34" charset="0"/>
                <a:ea typeface="Calibri" pitchFamily="34" charset="-122"/>
                <a:cs typeface="Calibri" pitchFamily="34" charset="-120"/>
              </a:rPr>
              <a:t>TYPICAL SCHOOL APPS</a:t>
            </a:r>
            <a:endParaRPr lang="en-US" sz="1100" dirty="0"/>
          </a:p>
        </p:txBody>
      </p:sp>
      <p:sp>
        <p:nvSpPr>
          <p:cNvPr id="7" name="Shape 5"/>
          <p:cNvSpPr/>
          <p:nvPr/>
        </p:nvSpPr>
        <p:spPr>
          <a:xfrm>
            <a:off x="6126480" y="2103120"/>
            <a:ext cx="5394960" cy="3931920"/>
          </a:xfrm>
          <a:prstGeom prst="rect">
            <a:avLst/>
          </a:prstGeom>
          <a:solidFill>
            <a:srgbClr val="0F1E3D"/>
          </a:solidFill>
          <a:ln/>
          <a:effectLst>
            <a:outerShdw sx="100000" sy="100000" kx="0" ky="0" algn="bl" rotWithShape="0" blurRad="127000" dist="38100" dir="5400000">
              <a:srgbClr val="000000">
                <a:alpha val="8000"/>
              </a:srgbClr>
            </a:outerShdw>
          </a:effectLst>
        </p:spPr>
      </p:sp>
      <p:sp>
        <p:nvSpPr>
          <p:cNvPr id="8" name="Shape 6"/>
          <p:cNvSpPr/>
          <p:nvPr/>
        </p:nvSpPr>
        <p:spPr>
          <a:xfrm>
            <a:off x="6126480" y="2103120"/>
            <a:ext cx="5394960" cy="109728"/>
          </a:xfrm>
          <a:prstGeom prst="rect">
            <a:avLst/>
          </a:prstGeom>
          <a:solidFill>
            <a:srgbClr val="F59E0B"/>
          </a:solidFill>
          <a:ln/>
        </p:spPr>
      </p:sp>
      <p:sp>
        <p:nvSpPr>
          <p:cNvPr id="9" name="Text 7"/>
          <p:cNvSpPr/>
          <p:nvPr/>
        </p:nvSpPr>
        <p:spPr>
          <a:xfrm>
            <a:off x="6126480" y="2377440"/>
            <a:ext cx="5394960" cy="320040"/>
          </a:xfrm>
          <a:prstGeom prst="rect">
            <a:avLst/>
          </a:prstGeom>
          <a:noFill/>
          <a:ln/>
        </p:spPr>
        <p:txBody>
          <a:bodyPr wrap="square" lIns="0" tIns="0" rIns="0" bIns="0" rtlCol="0" anchor="ctr"/>
          <a:lstStyle/>
          <a:p>
            <a:pPr algn="ctr" indent="0" marL="0">
              <a:buNone/>
            </a:pPr>
            <a:r>
              <a:rPr lang="en-US" sz="1100" b="1" spc="500" kern="0" dirty="0">
                <a:solidFill>
                  <a:srgbClr val="F59E0B"/>
                </a:solidFill>
                <a:latin typeface="Calibri" pitchFamily="34" charset="0"/>
                <a:ea typeface="Calibri" pitchFamily="34" charset="-122"/>
                <a:cs typeface="Calibri" pitchFamily="34" charset="-120"/>
              </a:rPr>
              <a:t>EDUCONNECT</a:t>
            </a:r>
            <a:endParaRPr lang="en-US" sz="1100" dirty="0"/>
          </a:p>
        </p:txBody>
      </p:sp>
      <p:sp>
        <p:nvSpPr>
          <p:cNvPr id="10" name="Text 8"/>
          <p:cNvSpPr/>
          <p:nvPr/>
        </p:nvSpPr>
        <p:spPr>
          <a:xfrm>
            <a:off x="1005840" y="2971800"/>
            <a:ext cx="365760" cy="365760"/>
          </a:xfrm>
          <a:prstGeom prst="rect">
            <a:avLst/>
          </a:prstGeom>
          <a:noFill/>
          <a:ln/>
        </p:spPr>
        <p:txBody>
          <a:bodyPr wrap="square" lIns="0" tIns="0" rIns="0" bIns="0" rtlCol="0" anchor="ctr"/>
          <a:lstStyle/>
          <a:p>
            <a:pPr algn="ctr" indent="0" marL="0">
              <a:buNone/>
            </a:pPr>
            <a:r>
              <a:rPr lang="en-US" sz="1800" b="1" dirty="0">
                <a:solidFill>
                  <a:srgbClr val="E11D48"/>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1417320" y="2971800"/>
            <a:ext cx="438912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Everyone logs in with email + password</a:t>
            </a:r>
            <a:endParaRPr lang="en-US" sz="1300" dirty="0"/>
          </a:p>
        </p:txBody>
      </p:sp>
      <p:sp>
        <p:nvSpPr>
          <p:cNvPr id="12" name="Text 10"/>
          <p:cNvSpPr/>
          <p:nvPr/>
        </p:nvSpPr>
        <p:spPr>
          <a:xfrm>
            <a:off x="6492240" y="2971800"/>
            <a:ext cx="365760" cy="365760"/>
          </a:xfrm>
          <a:prstGeom prst="rect">
            <a:avLst/>
          </a:prstGeom>
          <a:noFill/>
          <a:ln/>
        </p:spPr>
        <p:txBody>
          <a:bodyPr wrap="square" lIns="0" tIns="0" rIns="0" bIns="0" rtlCol="0" anchor="ctr"/>
          <a:lstStyle/>
          <a:p>
            <a:pPr algn="ctr" indent="0" marL="0">
              <a:buNone/>
            </a:pPr>
            <a:r>
              <a:rPr lang="en-US" sz="2000" b="1" dirty="0">
                <a:solidFill>
                  <a:srgbClr val="10B981"/>
                </a:solidFill>
                <a:latin typeface="Calibri" pitchFamily="34" charset="0"/>
                <a:ea typeface="Calibri" pitchFamily="34" charset="-122"/>
                <a:cs typeface="Calibri" pitchFamily="34" charset="-120"/>
              </a:rPr>
              <a:t>✓</a:t>
            </a:r>
            <a:endParaRPr lang="en-US" sz="2000" dirty="0"/>
          </a:p>
        </p:txBody>
      </p:sp>
      <p:sp>
        <p:nvSpPr>
          <p:cNvPr id="13" name="Text 11"/>
          <p:cNvSpPr/>
          <p:nvPr/>
        </p:nvSpPr>
        <p:spPr>
          <a:xfrm>
            <a:off x="6903720" y="2971800"/>
            <a:ext cx="448056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Parents log in with phone + simple PIN</a:t>
            </a:r>
            <a:endParaRPr lang="en-US" sz="1300" dirty="0"/>
          </a:p>
        </p:txBody>
      </p:sp>
      <p:sp>
        <p:nvSpPr>
          <p:cNvPr id="14" name="Text 12"/>
          <p:cNvSpPr/>
          <p:nvPr/>
        </p:nvSpPr>
        <p:spPr>
          <a:xfrm>
            <a:off x="1005840" y="3447288"/>
            <a:ext cx="365760" cy="365760"/>
          </a:xfrm>
          <a:prstGeom prst="rect">
            <a:avLst/>
          </a:prstGeom>
          <a:noFill/>
          <a:ln/>
        </p:spPr>
        <p:txBody>
          <a:bodyPr wrap="square" lIns="0" tIns="0" rIns="0" bIns="0" rtlCol="0" anchor="ctr"/>
          <a:lstStyle/>
          <a:p>
            <a:pPr algn="ctr" indent="0" marL="0">
              <a:buNone/>
            </a:pPr>
            <a:r>
              <a:rPr lang="en-US" sz="1800" b="1" dirty="0">
                <a:solidFill>
                  <a:srgbClr val="E11D48"/>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1417320" y="3447288"/>
            <a:ext cx="438912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Features bolted onto a generic CRM</a:t>
            </a:r>
            <a:endParaRPr lang="en-US" sz="1300" dirty="0"/>
          </a:p>
        </p:txBody>
      </p:sp>
      <p:sp>
        <p:nvSpPr>
          <p:cNvPr id="16" name="Text 14"/>
          <p:cNvSpPr/>
          <p:nvPr/>
        </p:nvSpPr>
        <p:spPr>
          <a:xfrm>
            <a:off x="6492240" y="3447288"/>
            <a:ext cx="365760" cy="365760"/>
          </a:xfrm>
          <a:prstGeom prst="rect">
            <a:avLst/>
          </a:prstGeom>
          <a:noFill/>
          <a:ln/>
        </p:spPr>
        <p:txBody>
          <a:bodyPr wrap="square" lIns="0" tIns="0" rIns="0" bIns="0" rtlCol="0" anchor="ctr"/>
          <a:lstStyle/>
          <a:p>
            <a:pPr algn="ctr" indent="0" marL="0">
              <a:buNone/>
            </a:pPr>
            <a:r>
              <a:rPr lang="en-US" sz="2000" b="1" dirty="0">
                <a:solidFill>
                  <a:srgbClr val="10B981"/>
                </a:solidFill>
                <a:latin typeface="Calibri" pitchFamily="34" charset="0"/>
                <a:ea typeface="Calibri" pitchFamily="34" charset="-122"/>
                <a:cs typeface="Calibri" pitchFamily="34" charset="-120"/>
              </a:rPr>
              <a:t>✓</a:t>
            </a:r>
            <a:endParaRPr lang="en-US" sz="2000" dirty="0"/>
          </a:p>
        </p:txBody>
      </p:sp>
      <p:sp>
        <p:nvSpPr>
          <p:cNvPr id="17" name="Text 15"/>
          <p:cNvSpPr/>
          <p:nvPr/>
        </p:nvSpPr>
        <p:spPr>
          <a:xfrm>
            <a:off x="6903720" y="3447288"/>
            <a:ext cx="448056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Built ground-up for schools — nothing else</a:t>
            </a:r>
            <a:endParaRPr lang="en-US" sz="1300" dirty="0"/>
          </a:p>
        </p:txBody>
      </p:sp>
      <p:sp>
        <p:nvSpPr>
          <p:cNvPr id="18" name="Text 16"/>
          <p:cNvSpPr/>
          <p:nvPr/>
        </p:nvSpPr>
        <p:spPr>
          <a:xfrm>
            <a:off x="1005840" y="3922776"/>
            <a:ext cx="365760" cy="365760"/>
          </a:xfrm>
          <a:prstGeom prst="rect">
            <a:avLst/>
          </a:prstGeom>
          <a:noFill/>
          <a:ln/>
        </p:spPr>
        <p:txBody>
          <a:bodyPr wrap="square" lIns="0" tIns="0" rIns="0" bIns="0" rtlCol="0" anchor="ctr"/>
          <a:lstStyle/>
          <a:p>
            <a:pPr algn="ctr" indent="0" marL="0">
              <a:buNone/>
            </a:pPr>
            <a:r>
              <a:rPr lang="en-US" sz="1800" b="1" dirty="0">
                <a:solidFill>
                  <a:srgbClr val="E11D48"/>
                </a:solidFill>
                <a:latin typeface="Calibri" pitchFamily="34" charset="0"/>
                <a:ea typeface="Calibri" pitchFamily="34" charset="-122"/>
                <a:cs typeface="Calibri" pitchFamily="34" charset="-120"/>
              </a:rPr>
              <a:t>✕</a:t>
            </a:r>
            <a:endParaRPr lang="en-US" sz="1800" dirty="0"/>
          </a:p>
        </p:txBody>
      </p:sp>
      <p:sp>
        <p:nvSpPr>
          <p:cNvPr id="19" name="Text 17"/>
          <p:cNvSpPr/>
          <p:nvPr/>
        </p:nvSpPr>
        <p:spPr>
          <a:xfrm>
            <a:off x="1417320" y="3922776"/>
            <a:ext cx="438912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Separate apps for different use-cases</a:t>
            </a:r>
            <a:endParaRPr lang="en-US" sz="1300" dirty="0"/>
          </a:p>
        </p:txBody>
      </p:sp>
      <p:sp>
        <p:nvSpPr>
          <p:cNvPr id="20" name="Text 18"/>
          <p:cNvSpPr/>
          <p:nvPr/>
        </p:nvSpPr>
        <p:spPr>
          <a:xfrm>
            <a:off x="6492240" y="3922776"/>
            <a:ext cx="365760" cy="365760"/>
          </a:xfrm>
          <a:prstGeom prst="rect">
            <a:avLst/>
          </a:prstGeom>
          <a:noFill/>
          <a:ln/>
        </p:spPr>
        <p:txBody>
          <a:bodyPr wrap="square" lIns="0" tIns="0" rIns="0" bIns="0" rtlCol="0" anchor="ctr"/>
          <a:lstStyle/>
          <a:p>
            <a:pPr algn="ctr" indent="0" marL="0">
              <a:buNone/>
            </a:pPr>
            <a:r>
              <a:rPr lang="en-US" sz="2000" b="1" dirty="0">
                <a:solidFill>
                  <a:srgbClr val="10B981"/>
                </a:solidFill>
                <a:latin typeface="Calibri" pitchFamily="34" charset="0"/>
                <a:ea typeface="Calibri" pitchFamily="34" charset="-122"/>
                <a:cs typeface="Calibri" pitchFamily="34" charset="-120"/>
              </a:rPr>
              <a:t>✓</a:t>
            </a:r>
            <a:endParaRPr lang="en-US" sz="2000" dirty="0"/>
          </a:p>
        </p:txBody>
      </p:sp>
      <p:sp>
        <p:nvSpPr>
          <p:cNvPr id="21" name="Text 19"/>
          <p:cNvSpPr/>
          <p:nvPr/>
        </p:nvSpPr>
        <p:spPr>
          <a:xfrm>
            <a:off x="6903720" y="3922776"/>
            <a:ext cx="448056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Attendance, homework, notices in one system</a:t>
            </a:r>
            <a:endParaRPr lang="en-US" sz="1300" dirty="0"/>
          </a:p>
        </p:txBody>
      </p:sp>
      <p:sp>
        <p:nvSpPr>
          <p:cNvPr id="22" name="Text 20"/>
          <p:cNvSpPr/>
          <p:nvPr/>
        </p:nvSpPr>
        <p:spPr>
          <a:xfrm>
            <a:off x="1005840" y="4398264"/>
            <a:ext cx="365760" cy="365760"/>
          </a:xfrm>
          <a:prstGeom prst="rect">
            <a:avLst/>
          </a:prstGeom>
          <a:noFill/>
          <a:ln/>
        </p:spPr>
        <p:txBody>
          <a:bodyPr wrap="square" lIns="0" tIns="0" rIns="0" bIns="0" rtlCol="0" anchor="ctr"/>
          <a:lstStyle/>
          <a:p>
            <a:pPr algn="ctr" indent="0" marL="0">
              <a:buNone/>
            </a:pPr>
            <a:r>
              <a:rPr lang="en-US" sz="1800" b="1" dirty="0">
                <a:solidFill>
                  <a:srgbClr val="E11D48"/>
                </a:solidFill>
                <a:latin typeface="Calibri" pitchFamily="34" charset="0"/>
                <a:ea typeface="Calibri" pitchFamily="34" charset="-122"/>
                <a:cs typeface="Calibri" pitchFamily="34" charset="-120"/>
              </a:rPr>
              <a:t>✕</a:t>
            </a:r>
            <a:endParaRPr lang="en-US" sz="1800" dirty="0"/>
          </a:p>
        </p:txBody>
      </p:sp>
      <p:sp>
        <p:nvSpPr>
          <p:cNvPr id="23" name="Text 21"/>
          <p:cNvSpPr/>
          <p:nvPr/>
        </p:nvSpPr>
        <p:spPr>
          <a:xfrm>
            <a:off x="1417320" y="4398264"/>
            <a:ext cx="438912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Requires Play Store / App Store install</a:t>
            </a:r>
            <a:endParaRPr lang="en-US" sz="1300" dirty="0"/>
          </a:p>
        </p:txBody>
      </p:sp>
      <p:sp>
        <p:nvSpPr>
          <p:cNvPr id="24" name="Text 22"/>
          <p:cNvSpPr/>
          <p:nvPr/>
        </p:nvSpPr>
        <p:spPr>
          <a:xfrm>
            <a:off x="6492240" y="4398264"/>
            <a:ext cx="365760" cy="365760"/>
          </a:xfrm>
          <a:prstGeom prst="rect">
            <a:avLst/>
          </a:prstGeom>
          <a:noFill/>
          <a:ln/>
        </p:spPr>
        <p:txBody>
          <a:bodyPr wrap="square" lIns="0" tIns="0" rIns="0" bIns="0" rtlCol="0" anchor="ctr"/>
          <a:lstStyle/>
          <a:p>
            <a:pPr algn="ctr" indent="0" marL="0">
              <a:buNone/>
            </a:pPr>
            <a:r>
              <a:rPr lang="en-US" sz="2000" b="1" dirty="0">
                <a:solidFill>
                  <a:srgbClr val="10B981"/>
                </a:solidFill>
                <a:latin typeface="Calibri" pitchFamily="34" charset="0"/>
                <a:ea typeface="Calibri" pitchFamily="34" charset="-122"/>
                <a:cs typeface="Calibri" pitchFamily="34" charset="-120"/>
              </a:rPr>
              <a:t>✓</a:t>
            </a:r>
            <a:endParaRPr lang="en-US" sz="2000" dirty="0"/>
          </a:p>
        </p:txBody>
      </p:sp>
      <p:sp>
        <p:nvSpPr>
          <p:cNvPr id="25" name="Text 23"/>
          <p:cNvSpPr/>
          <p:nvPr/>
        </p:nvSpPr>
        <p:spPr>
          <a:xfrm>
            <a:off x="6903720" y="4398264"/>
            <a:ext cx="448056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Installable as a PWA — works offline</a:t>
            </a:r>
            <a:endParaRPr lang="en-US" sz="1300" dirty="0"/>
          </a:p>
        </p:txBody>
      </p:sp>
      <p:sp>
        <p:nvSpPr>
          <p:cNvPr id="26" name="Text 24"/>
          <p:cNvSpPr/>
          <p:nvPr/>
        </p:nvSpPr>
        <p:spPr>
          <a:xfrm>
            <a:off x="1005840" y="4873752"/>
            <a:ext cx="365760" cy="365760"/>
          </a:xfrm>
          <a:prstGeom prst="rect">
            <a:avLst/>
          </a:prstGeom>
          <a:noFill/>
          <a:ln/>
        </p:spPr>
        <p:txBody>
          <a:bodyPr wrap="square" lIns="0" tIns="0" rIns="0" bIns="0" rtlCol="0" anchor="ctr"/>
          <a:lstStyle/>
          <a:p>
            <a:pPr algn="ctr" indent="0" marL="0">
              <a:buNone/>
            </a:pPr>
            <a:r>
              <a:rPr lang="en-US" sz="1800" b="1" dirty="0">
                <a:solidFill>
                  <a:srgbClr val="E11D48"/>
                </a:solidFill>
                <a:latin typeface="Calibri" pitchFamily="34" charset="0"/>
                <a:ea typeface="Calibri" pitchFamily="34" charset="-122"/>
                <a:cs typeface="Calibri" pitchFamily="34" charset="-120"/>
              </a:rPr>
              <a:t>✕</a:t>
            </a:r>
            <a:endParaRPr lang="en-US" sz="1800" dirty="0"/>
          </a:p>
        </p:txBody>
      </p:sp>
      <p:sp>
        <p:nvSpPr>
          <p:cNvPr id="27" name="Text 25"/>
          <p:cNvSpPr/>
          <p:nvPr/>
        </p:nvSpPr>
        <p:spPr>
          <a:xfrm>
            <a:off x="1417320" y="4873752"/>
            <a:ext cx="438912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Support tickets disappear into a queue</a:t>
            </a:r>
            <a:endParaRPr lang="en-US" sz="1300" dirty="0"/>
          </a:p>
        </p:txBody>
      </p:sp>
      <p:sp>
        <p:nvSpPr>
          <p:cNvPr id="28" name="Text 26"/>
          <p:cNvSpPr/>
          <p:nvPr/>
        </p:nvSpPr>
        <p:spPr>
          <a:xfrm>
            <a:off x="6492240" y="4873752"/>
            <a:ext cx="365760" cy="365760"/>
          </a:xfrm>
          <a:prstGeom prst="rect">
            <a:avLst/>
          </a:prstGeom>
          <a:noFill/>
          <a:ln/>
        </p:spPr>
        <p:txBody>
          <a:bodyPr wrap="square" lIns="0" tIns="0" rIns="0" bIns="0" rtlCol="0" anchor="ctr"/>
          <a:lstStyle/>
          <a:p>
            <a:pPr algn="ctr" indent="0" marL="0">
              <a:buNone/>
            </a:pPr>
            <a:r>
              <a:rPr lang="en-US" sz="2000" b="1" dirty="0">
                <a:solidFill>
                  <a:srgbClr val="10B981"/>
                </a:solidFill>
                <a:latin typeface="Calibri" pitchFamily="34" charset="0"/>
                <a:ea typeface="Calibri" pitchFamily="34" charset="-122"/>
                <a:cs typeface="Calibri" pitchFamily="34" charset="-120"/>
              </a:rPr>
              <a:t>✓</a:t>
            </a:r>
            <a:endParaRPr lang="en-US" sz="2000" dirty="0"/>
          </a:p>
        </p:txBody>
      </p:sp>
      <p:sp>
        <p:nvSpPr>
          <p:cNvPr id="29" name="Text 27"/>
          <p:cNvSpPr/>
          <p:nvPr/>
        </p:nvSpPr>
        <p:spPr>
          <a:xfrm>
            <a:off x="6903720" y="4873752"/>
            <a:ext cx="448056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Direct access to the team who built it</a:t>
            </a:r>
            <a:endParaRPr lang="en-US" sz="1300" dirty="0"/>
          </a:p>
        </p:txBody>
      </p:sp>
      <p:sp>
        <p:nvSpPr>
          <p:cNvPr id="30" name="Text 28"/>
          <p:cNvSpPr/>
          <p:nvPr/>
        </p:nvSpPr>
        <p:spPr>
          <a:xfrm>
            <a:off x="1005840" y="5349240"/>
            <a:ext cx="365760" cy="365760"/>
          </a:xfrm>
          <a:prstGeom prst="rect">
            <a:avLst/>
          </a:prstGeom>
          <a:noFill/>
          <a:ln/>
        </p:spPr>
        <p:txBody>
          <a:bodyPr wrap="square" lIns="0" tIns="0" rIns="0" bIns="0" rtlCol="0" anchor="ctr"/>
          <a:lstStyle/>
          <a:p>
            <a:pPr algn="ctr" indent="0" marL="0">
              <a:buNone/>
            </a:pPr>
            <a:r>
              <a:rPr lang="en-US" sz="1800" b="1" dirty="0">
                <a:solidFill>
                  <a:srgbClr val="E11D48"/>
                </a:solidFill>
                <a:latin typeface="Calibri" pitchFamily="34" charset="0"/>
                <a:ea typeface="Calibri" pitchFamily="34" charset="-122"/>
                <a:cs typeface="Calibri" pitchFamily="34" charset="-120"/>
              </a:rPr>
              <a:t>✕</a:t>
            </a:r>
            <a:endParaRPr lang="en-US" sz="1800" dirty="0"/>
          </a:p>
        </p:txBody>
      </p:sp>
      <p:sp>
        <p:nvSpPr>
          <p:cNvPr id="31" name="Text 29"/>
          <p:cNvSpPr/>
          <p:nvPr/>
        </p:nvSpPr>
        <p:spPr>
          <a:xfrm>
            <a:off x="1417320" y="5349240"/>
            <a:ext cx="438912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You adapt to the software</a:t>
            </a:r>
            <a:endParaRPr lang="en-US" sz="1300" dirty="0"/>
          </a:p>
        </p:txBody>
      </p:sp>
      <p:sp>
        <p:nvSpPr>
          <p:cNvPr id="32" name="Text 30"/>
          <p:cNvSpPr/>
          <p:nvPr/>
        </p:nvSpPr>
        <p:spPr>
          <a:xfrm>
            <a:off x="6492240" y="5349240"/>
            <a:ext cx="365760" cy="365760"/>
          </a:xfrm>
          <a:prstGeom prst="rect">
            <a:avLst/>
          </a:prstGeom>
          <a:noFill/>
          <a:ln/>
        </p:spPr>
        <p:txBody>
          <a:bodyPr wrap="square" lIns="0" tIns="0" rIns="0" bIns="0" rtlCol="0" anchor="ctr"/>
          <a:lstStyle/>
          <a:p>
            <a:pPr algn="ctr" indent="0" marL="0">
              <a:buNone/>
            </a:pPr>
            <a:r>
              <a:rPr lang="en-US" sz="2000" b="1" dirty="0">
                <a:solidFill>
                  <a:srgbClr val="10B981"/>
                </a:solidFill>
                <a:latin typeface="Calibri" pitchFamily="34" charset="0"/>
                <a:ea typeface="Calibri" pitchFamily="34" charset="-122"/>
                <a:cs typeface="Calibri" pitchFamily="34" charset="-120"/>
              </a:rPr>
              <a:t>✓</a:t>
            </a:r>
            <a:endParaRPr lang="en-US" sz="2000" dirty="0"/>
          </a:p>
        </p:txBody>
      </p:sp>
      <p:sp>
        <p:nvSpPr>
          <p:cNvPr id="33" name="Text 31"/>
          <p:cNvSpPr/>
          <p:nvPr/>
        </p:nvSpPr>
        <p:spPr>
          <a:xfrm>
            <a:off x="6903720" y="5349240"/>
            <a:ext cx="448056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The software adapts to your school</a:t>
            </a:r>
            <a:endParaRPr lang="en-US" sz="1300" dirty="0"/>
          </a:p>
        </p:txBody>
      </p:sp>
      <p:sp>
        <p:nvSpPr>
          <p:cNvPr id="34" name="Shape 32"/>
          <p:cNvSpPr/>
          <p:nvPr/>
        </p:nvSpPr>
        <p:spPr>
          <a:xfrm>
            <a:off x="457200" y="6446520"/>
            <a:ext cx="11247120" cy="0"/>
          </a:xfrm>
          <a:prstGeom prst="line">
            <a:avLst/>
          </a:prstGeom>
          <a:noFill/>
          <a:ln w="9525">
            <a:solidFill>
              <a:srgbClr val="E2E8F0"/>
            </a:solidFill>
            <a:prstDash val="solid"/>
          </a:ln>
        </p:spPr>
      </p:sp>
      <p:sp>
        <p:nvSpPr>
          <p:cNvPr id="35" name="Text 33"/>
          <p:cNvSpPr/>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EduConnect  |  FBT — Future Beyond Technology</a:t>
            </a:r>
            <a:endParaRPr lang="en-US" sz="900" dirty="0"/>
          </a:p>
        </p:txBody>
      </p:sp>
      <p:sp>
        <p:nvSpPr>
          <p:cNvPr id="36" name="Text 34"/>
          <p:cNvSpPr/>
          <p:nvPr/>
        </p:nvSpPr>
        <p:spPr>
          <a:xfrm>
            <a:off x="10972800" y="653796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640080"/>
            <a:ext cx="5486400" cy="274320"/>
          </a:xfrm>
          <a:prstGeom prst="rect">
            <a:avLst/>
          </a:prstGeom>
          <a:noFill/>
          <a:ln/>
        </p:spPr>
        <p:txBody>
          <a:bodyPr wrap="square" lIns="0" tIns="0" rIns="0" bIns="0" rtlCol="0" anchor="ctr"/>
          <a:lstStyle/>
          <a:p>
            <a:pPr indent="0" marL="0">
              <a:buNone/>
            </a:pPr>
            <a:r>
              <a:rPr lang="en-US" sz="1100" b="1" spc="400" kern="0" dirty="0">
                <a:solidFill>
                  <a:srgbClr val="0EA5E9"/>
                </a:solidFill>
                <a:latin typeface="Calibri" pitchFamily="34" charset="0"/>
                <a:ea typeface="Calibri" pitchFamily="34" charset="-122"/>
                <a:cs typeface="Calibri" pitchFamily="34" charset="-120"/>
              </a:rPr>
              <a:t>YOUR FIRST WEEK WITH EDUCONNECT</a:t>
            </a:r>
            <a:endParaRPr lang="en-US" sz="1100" dirty="0"/>
          </a:p>
        </p:txBody>
      </p:sp>
      <p:sp>
        <p:nvSpPr>
          <p:cNvPr id="3" name="Text 1"/>
          <p:cNvSpPr/>
          <p:nvPr/>
        </p:nvSpPr>
        <p:spPr>
          <a:xfrm>
            <a:off x="640080" y="960120"/>
            <a:ext cx="10972800" cy="914400"/>
          </a:xfrm>
          <a:prstGeom prst="rect">
            <a:avLst/>
          </a:prstGeom>
          <a:noFill/>
          <a:ln/>
        </p:spPr>
        <p:txBody>
          <a:bodyPr wrap="square" lIns="0" tIns="0" rIns="0" bIns="0" rtlCol="0" anchor="t"/>
          <a:lstStyle/>
          <a:p>
            <a:pPr indent="0" marL="0">
              <a:buNone/>
            </a:pPr>
            <a:r>
              <a:rPr lang="en-US" sz="3600" b="1" dirty="0">
                <a:solidFill>
                  <a:srgbClr val="0F172A"/>
                </a:solidFill>
                <a:latin typeface="Georgia" pitchFamily="34" charset="0"/>
                <a:ea typeface="Georgia" pitchFamily="34" charset="-122"/>
                <a:cs typeface="Georgia" pitchFamily="34" charset="-120"/>
              </a:rPr>
              <a:t>From sign-up to daily use in 5 days.</a:t>
            </a:r>
            <a:endParaRPr lang="en-US" sz="3600" dirty="0"/>
          </a:p>
        </p:txBody>
      </p:sp>
      <p:sp>
        <p:nvSpPr>
          <p:cNvPr id="4" name="Text 2"/>
          <p:cNvSpPr/>
          <p:nvPr/>
        </p:nvSpPr>
        <p:spPr>
          <a:xfrm>
            <a:off x="640080" y="1965960"/>
            <a:ext cx="10972800" cy="45720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We work alongside your team during the rollout — not just hand over a login and disappear.</a:t>
            </a:r>
            <a:endParaRPr lang="en-US" sz="1400" dirty="0"/>
          </a:p>
        </p:txBody>
      </p:sp>
      <p:sp>
        <p:nvSpPr>
          <p:cNvPr id="5" name="Shape 3"/>
          <p:cNvSpPr/>
          <p:nvPr/>
        </p:nvSpPr>
        <p:spPr>
          <a:xfrm>
            <a:off x="333756" y="2743200"/>
            <a:ext cx="2240280" cy="301752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6" name="Shape 4"/>
          <p:cNvSpPr/>
          <p:nvPr/>
        </p:nvSpPr>
        <p:spPr>
          <a:xfrm>
            <a:off x="333756" y="2743200"/>
            <a:ext cx="2240280" cy="457200"/>
          </a:xfrm>
          <a:prstGeom prst="rect">
            <a:avLst/>
          </a:prstGeom>
          <a:solidFill>
            <a:srgbClr val="1E3A8A"/>
          </a:solidFill>
          <a:ln/>
        </p:spPr>
      </p:sp>
      <p:sp>
        <p:nvSpPr>
          <p:cNvPr id="7" name="Text 5"/>
          <p:cNvSpPr/>
          <p:nvPr/>
        </p:nvSpPr>
        <p:spPr>
          <a:xfrm>
            <a:off x="333756" y="2743200"/>
            <a:ext cx="2240280" cy="457200"/>
          </a:xfrm>
          <a:prstGeom prst="rect">
            <a:avLst/>
          </a:prstGeom>
          <a:noFill/>
          <a:ln/>
        </p:spPr>
        <p:txBody>
          <a:bodyPr wrap="square" lIns="0" tIns="0" rIns="0" bIns="0" rtlCol="0" anchor="ctr"/>
          <a:lstStyle/>
          <a:p>
            <a:pPr algn="ctr" indent="0" marL="0">
              <a:buNone/>
            </a:pPr>
            <a:r>
              <a:rPr lang="en-US" sz="1200" b="1" spc="400" kern="0" dirty="0">
                <a:solidFill>
                  <a:srgbClr val="FFFFFF"/>
                </a:solidFill>
                <a:latin typeface="Calibri" pitchFamily="34" charset="0"/>
                <a:ea typeface="Calibri" pitchFamily="34" charset="-122"/>
                <a:cs typeface="Calibri" pitchFamily="34" charset="-120"/>
              </a:rPr>
              <a:t>Day 1</a:t>
            </a:r>
            <a:endParaRPr lang="en-US" sz="1200" dirty="0"/>
          </a:p>
        </p:txBody>
      </p:sp>
      <p:sp>
        <p:nvSpPr>
          <p:cNvPr id="8" name="Text 6"/>
          <p:cNvSpPr/>
          <p:nvPr/>
        </p:nvSpPr>
        <p:spPr>
          <a:xfrm>
            <a:off x="333756" y="3429000"/>
            <a:ext cx="2240280" cy="914400"/>
          </a:xfrm>
          <a:prstGeom prst="rect">
            <a:avLst/>
          </a:prstGeom>
          <a:noFill/>
          <a:ln/>
        </p:spPr>
        <p:txBody>
          <a:bodyPr wrap="square" lIns="0" tIns="0" rIns="0" bIns="0" rtlCol="0" anchor="ctr"/>
          <a:lstStyle/>
          <a:p>
            <a:pPr algn="ctr" indent="0" marL="0">
              <a:buNone/>
            </a:pPr>
            <a:r>
              <a:rPr lang="en-US" sz="5600" b="1" dirty="0">
                <a:solidFill>
                  <a:srgbClr val="0EA5E9"/>
                </a:solidFill>
                <a:latin typeface="Georgia" pitchFamily="34" charset="0"/>
                <a:ea typeface="Georgia" pitchFamily="34" charset="-122"/>
                <a:cs typeface="Georgia" pitchFamily="34" charset="-120"/>
              </a:rPr>
              <a:t>1</a:t>
            </a:r>
            <a:endParaRPr lang="en-US" sz="5600" dirty="0"/>
          </a:p>
        </p:txBody>
      </p:sp>
      <p:sp>
        <p:nvSpPr>
          <p:cNvPr id="9" name="Text 7"/>
          <p:cNvSpPr/>
          <p:nvPr/>
        </p:nvSpPr>
        <p:spPr>
          <a:xfrm>
            <a:off x="516636" y="4434840"/>
            <a:ext cx="1874520" cy="457200"/>
          </a:xfrm>
          <a:prstGeom prst="rect">
            <a:avLst/>
          </a:prstGeom>
          <a:noFill/>
          <a:ln/>
        </p:spPr>
        <p:txBody>
          <a:bodyPr wrap="square" lIns="0" tIns="0" rIns="0" bIns="0" rtlCol="0" anchor="ctr"/>
          <a:lstStyle/>
          <a:p>
            <a:pPr algn="ctr" indent="0" marL="0">
              <a:buNone/>
            </a:pPr>
            <a:r>
              <a:rPr lang="en-US" sz="1500" b="1" dirty="0">
                <a:solidFill>
                  <a:srgbClr val="0F172A"/>
                </a:solidFill>
                <a:latin typeface="Georgia" pitchFamily="34" charset="0"/>
                <a:ea typeface="Georgia" pitchFamily="34" charset="-122"/>
                <a:cs typeface="Georgia" pitchFamily="34" charset="-120"/>
              </a:rPr>
              <a:t>Admin Setup</a:t>
            </a:r>
            <a:endParaRPr lang="en-US" sz="1500" dirty="0"/>
          </a:p>
        </p:txBody>
      </p:sp>
      <p:sp>
        <p:nvSpPr>
          <p:cNvPr id="10" name="Text 8"/>
          <p:cNvSpPr/>
          <p:nvPr/>
        </p:nvSpPr>
        <p:spPr>
          <a:xfrm>
            <a:off x="516636" y="4892040"/>
            <a:ext cx="1874520" cy="91440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School profile, academic year, subjects, classes. Admin account provisioned.</a:t>
            </a:r>
            <a:endParaRPr lang="en-US" sz="1100" dirty="0"/>
          </a:p>
        </p:txBody>
      </p:sp>
      <p:sp>
        <p:nvSpPr>
          <p:cNvPr id="11" name="Shape 9"/>
          <p:cNvSpPr/>
          <p:nvPr/>
        </p:nvSpPr>
        <p:spPr>
          <a:xfrm>
            <a:off x="2647188" y="2743200"/>
            <a:ext cx="2240280" cy="301752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12" name="Shape 10"/>
          <p:cNvSpPr/>
          <p:nvPr/>
        </p:nvSpPr>
        <p:spPr>
          <a:xfrm>
            <a:off x="2647188" y="2743200"/>
            <a:ext cx="2240280" cy="457200"/>
          </a:xfrm>
          <a:prstGeom prst="rect">
            <a:avLst/>
          </a:prstGeom>
          <a:solidFill>
            <a:srgbClr val="1E3A8A"/>
          </a:solidFill>
          <a:ln/>
        </p:spPr>
      </p:sp>
      <p:sp>
        <p:nvSpPr>
          <p:cNvPr id="13" name="Text 11"/>
          <p:cNvSpPr/>
          <p:nvPr/>
        </p:nvSpPr>
        <p:spPr>
          <a:xfrm>
            <a:off x="2647188" y="2743200"/>
            <a:ext cx="2240280" cy="457200"/>
          </a:xfrm>
          <a:prstGeom prst="rect">
            <a:avLst/>
          </a:prstGeom>
          <a:noFill/>
          <a:ln/>
        </p:spPr>
        <p:txBody>
          <a:bodyPr wrap="square" lIns="0" tIns="0" rIns="0" bIns="0" rtlCol="0" anchor="ctr"/>
          <a:lstStyle/>
          <a:p>
            <a:pPr algn="ctr" indent="0" marL="0">
              <a:buNone/>
            </a:pPr>
            <a:r>
              <a:rPr lang="en-US" sz="1200" b="1" spc="400" kern="0" dirty="0">
                <a:solidFill>
                  <a:srgbClr val="FFFFFF"/>
                </a:solidFill>
                <a:latin typeface="Calibri" pitchFamily="34" charset="0"/>
                <a:ea typeface="Calibri" pitchFamily="34" charset="-122"/>
                <a:cs typeface="Calibri" pitchFamily="34" charset="-120"/>
              </a:rPr>
              <a:t>Day 2</a:t>
            </a:r>
            <a:endParaRPr lang="en-US" sz="1200" dirty="0"/>
          </a:p>
        </p:txBody>
      </p:sp>
      <p:sp>
        <p:nvSpPr>
          <p:cNvPr id="14" name="Text 12"/>
          <p:cNvSpPr/>
          <p:nvPr/>
        </p:nvSpPr>
        <p:spPr>
          <a:xfrm>
            <a:off x="2647188" y="3429000"/>
            <a:ext cx="2240280" cy="914400"/>
          </a:xfrm>
          <a:prstGeom prst="rect">
            <a:avLst/>
          </a:prstGeom>
          <a:noFill/>
          <a:ln/>
        </p:spPr>
        <p:txBody>
          <a:bodyPr wrap="square" lIns="0" tIns="0" rIns="0" bIns="0" rtlCol="0" anchor="ctr"/>
          <a:lstStyle/>
          <a:p>
            <a:pPr algn="ctr" indent="0" marL="0">
              <a:buNone/>
            </a:pPr>
            <a:r>
              <a:rPr lang="en-US" sz="5600" b="1" dirty="0">
                <a:solidFill>
                  <a:srgbClr val="0EA5E9"/>
                </a:solidFill>
                <a:latin typeface="Georgia" pitchFamily="34" charset="0"/>
                <a:ea typeface="Georgia" pitchFamily="34" charset="-122"/>
                <a:cs typeface="Georgia" pitchFamily="34" charset="-120"/>
              </a:rPr>
              <a:t>2</a:t>
            </a:r>
            <a:endParaRPr lang="en-US" sz="5600" dirty="0"/>
          </a:p>
        </p:txBody>
      </p:sp>
      <p:sp>
        <p:nvSpPr>
          <p:cNvPr id="15" name="Text 13"/>
          <p:cNvSpPr/>
          <p:nvPr/>
        </p:nvSpPr>
        <p:spPr>
          <a:xfrm>
            <a:off x="2830068" y="4434840"/>
            <a:ext cx="1874520" cy="457200"/>
          </a:xfrm>
          <a:prstGeom prst="rect">
            <a:avLst/>
          </a:prstGeom>
          <a:noFill/>
          <a:ln/>
        </p:spPr>
        <p:txBody>
          <a:bodyPr wrap="square" lIns="0" tIns="0" rIns="0" bIns="0" rtlCol="0" anchor="ctr"/>
          <a:lstStyle/>
          <a:p>
            <a:pPr algn="ctr" indent="0" marL="0">
              <a:buNone/>
            </a:pPr>
            <a:r>
              <a:rPr lang="en-US" sz="1500" b="1" dirty="0">
                <a:solidFill>
                  <a:srgbClr val="0F172A"/>
                </a:solidFill>
                <a:latin typeface="Georgia" pitchFamily="34" charset="0"/>
                <a:ea typeface="Georgia" pitchFamily="34" charset="-122"/>
                <a:cs typeface="Georgia" pitchFamily="34" charset="-120"/>
              </a:rPr>
              <a:t>Student Enrollment</a:t>
            </a:r>
            <a:endParaRPr lang="en-US" sz="1500" dirty="0"/>
          </a:p>
        </p:txBody>
      </p:sp>
      <p:sp>
        <p:nvSpPr>
          <p:cNvPr id="16" name="Text 14"/>
          <p:cNvSpPr/>
          <p:nvPr/>
        </p:nvSpPr>
        <p:spPr>
          <a:xfrm>
            <a:off x="2830068" y="4892040"/>
            <a:ext cx="1874520" cy="91440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Bulk or individual student enrollment. Parent phone numbers linked.</a:t>
            </a:r>
            <a:endParaRPr lang="en-US" sz="1100" dirty="0"/>
          </a:p>
        </p:txBody>
      </p:sp>
      <p:sp>
        <p:nvSpPr>
          <p:cNvPr id="17" name="Shape 15"/>
          <p:cNvSpPr/>
          <p:nvPr/>
        </p:nvSpPr>
        <p:spPr>
          <a:xfrm>
            <a:off x="4960620" y="2743200"/>
            <a:ext cx="2240280" cy="301752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18" name="Shape 16"/>
          <p:cNvSpPr/>
          <p:nvPr/>
        </p:nvSpPr>
        <p:spPr>
          <a:xfrm>
            <a:off x="4960620" y="2743200"/>
            <a:ext cx="2240280" cy="457200"/>
          </a:xfrm>
          <a:prstGeom prst="rect">
            <a:avLst/>
          </a:prstGeom>
          <a:solidFill>
            <a:srgbClr val="1E3A8A"/>
          </a:solidFill>
          <a:ln/>
        </p:spPr>
      </p:sp>
      <p:sp>
        <p:nvSpPr>
          <p:cNvPr id="19" name="Text 17"/>
          <p:cNvSpPr/>
          <p:nvPr/>
        </p:nvSpPr>
        <p:spPr>
          <a:xfrm>
            <a:off x="4960620" y="2743200"/>
            <a:ext cx="2240280" cy="457200"/>
          </a:xfrm>
          <a:prstGeom prst="rect">
            <a:avLst/>
          </a:prstGeom>
          <a:noFill/>
          <a:ln/>
        </p:spPr>
        <p:txBody>
          <a:bodyPr wrap="square" lIns="0" tIns="0" rIns="0" bIns="0" rtlCol="0" anchor="ctr"/>
          <a:lstStyle/>
          <a:p>
            <a:pPr algn="ctr" indent="0" marL="0">
              <a:buNone/>
            </a:pPr>
            <a:r>
              <a:rPr lang="en-US" sz="1200" b="1" spc="400" kern="0" dirty="0">
                <a:solidFill>
                  <a:srgbClr val="FFFFFF"/>
                </a:solidFill>
                <a:latin typeface="Calibri" pitchFamily="34" charset="0"/>
                <a:ea typeface="Calibri" pitchFamily="34" charset="-122"/>
                <a:cs typeface="Calibri" pitchFamily="34" charset="-120"/>
              </a:rPr>
              <a:t>Day 3</a:t>
            </a:r>
            <a:endParaRPr lang="en-US" sz="1200" dirty="0"/>
          </a:p>
        </p:txBody>
      </p:sp>
      <p:sp>
        <p:nvSpPr>
          <p:cNvPr id="20" name="Text 18"/>
          <p:cNvSpPr/>
          <p:nvPr/>
        </p:nvSpPr>
        <p:spPr>
          <a:xfrm>
            <a:off x="4960620" y="3429000"/>
            <a:ext cx="2240280" cy="914400"/>
          </a:xfrm>
          <a:prstGeom prst="rect">
            <a:avLst/>
          </a:prstGeom>
          <a:noFill/>
          <a:ln/>
        </p:spPr>
        <p:txBody>
          <a:bodyPr wrap="square" lIns="0" tIns="0" rIns="0" bIns="0" rtlCol="0" anchor="ctr"/>
          <a:lstStyle/>
          <a:p>
            <a:pPr algn="ctr" indent="0" marL="0">
              <a:buNone/>
            </a:pPr>
            <a:r>
              <a:rPr lang="en-US" sz="5600" b="1" dirty="0">
                <a:solidFill>
                  <a:srgbClr val="0EA5E9"/>
                </a:solidFill>
                <a:latin typeface="Georgia" pitchFamily="34" charset="0"/>
                <a:ea typeface="Georgia" pitchFamily="34" charset="-122"/>
                <a:cs typeface="Georgia" pitchFamily="34" charset="-120"/>
              </a:rPr>
              <a:t>3</a:t>
            </a:r>
            <a:endParaRPr lang="en-US" sz="5600" dirty="0"/>
          </a:p>
        </p:txBody>
      </p:sp>
      <p:sp>
        <p:nvSpPr>
          <p:cNvPr id="21" name="Text 19"/>
          <p:cNvSpPr/>
          <p:nvPr/>
        </p:nvSpPr>
        <p:spPr>
          <a:xfrm>
            <a:off x="5143500" y="4434840"/>
            <a:ext cx="1874520" cy="457200"/>
          </a:xfrm>
          <a:prstGeom prst="rect">
            <a:avLst/>
          </a:prstGeom>
          <a:noFill/>
          <a:ln/>
        </p:spPr>
        <p:txBody>
          <a:bodyPr wrap="square" lIns="0" tIns="0" rIns="0" bIns="0" rtlCol="0" anchor="ctr"/>
          <a:lstStyle/>
          <a:p>
            <a:pPr algn="ctr" indent="0" marL="0">
              <a:buNone/>
            </a:pPr>
            <a:r>
              <a:rPr lang="en-US" sz="1500" b="1" dirty="0">
                <a:solidFill>
                  <a:srgbClr val="0F172A"/>
                </a:solidFill>
                <a:latin typeface="Georgia" pitchFamily="34" charset="0"/>
                <a:ea typeface="Georgia" pitchFamily="34" charset="-122"/>
                <a:cs typeface="Georgia" pitchFamily="34" charset="-120"/>
              </a:rPr>
              <a:t>Teacher Onboarding</a:t>
            </a:r>
            <a:endParaRPr lang="en-US" sz="1500" dirty="0"/>
          </a:p>
        </p:txBody>
      </p:sp>
      <p:sp>
        <p:nvSpPr>
          <p:cNvPr id="22" name="Text 20"/>
          <p:cNvSpPr/>
          <p:nvPr/>
        </p:nvSpPr>
        <p:spPr>
          <a:xfrm>
            <a:off x="5143500" y="4892040"/>
            <a:ext cx="1874520" cy="91440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Teachers log in. Class and subject assignments. First homework created.</a:t>
            </a:r>
            <a:endParaRPr lang="en-US" sz="1100" dirty="0"/>
          </a:p>
        </p:txBody>
      </p:sp>
      <p:sp>
        <p:nvSpPr>
          <p:cNvPr id="23" name="Shape 21"/>
          <p:cNvSpPr/>
          <p:nvPr/>
        </p:nvSpPr>
        <p:spPr>
          <a:xfrm>
            <a:off x="7274052" y="2743200"/>
            <a:ext cx="2240280" cy="301752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24" name="Shape 22"/>
          <p:cNvSpPr/>
          <p:nvPr/>
        </p:nvSpPr>
        <p:spPr>
          <a:xfrm>
            <a:off x="7274052" y="2743200"/>
            <a:ext cx="2240280" cy="457200"/>
          </a:xfrm>
          <a:prstGeom prst="rect">
            <a:avLst/>
          </a:prstGeom>
          <a:solidFill>
            <a:srgbClr val="1E3A8A"/>
          </a:solidFill>
          <a:ln/>
        </p:spPr>
      </p:sp>
      <p:sp>
        <p:nvSpPr>
          <p:cNvPr id="25" name="Text 23"/>
          <p:cNvSpPr/>
          <p:nvPr/>
        </p:nvSpPr>
        <p:spPr>
          <a:xfrm>
            <a:off x="7274052" y="2743200"/>
            <a:ext cx="2240280" cy="457200"/>
          </a:xfrm>
          <a:prstGeom prst="rect">
            <a:avLst/>
          </a:prstGeom>
          <a:noFill/>
          <a:ln/>
        </p:spPr>
        <p:txBody>
          <a:bodyPr wrap="square" lIns="0" tIns="0" rIns="0" bIns="0" rtlCol="0" anchor="ctr"/>
          <a:lstStyle/>
          <a:p>
            <a:pPr algn="ctr" indent="0" marL="0">
              <a:buNone/>
            </a:pPr>
            <a:r>
              <a:rPr lang="en-US" sz="1200" b="1" spc="400" kern="0" dirty="0">
                <a:solidFill>
                  <a:srgbClr val="FFFFFF"/>
                </a:solidFill>
                <a:latin typeface="Calibri" pitchFamily="34" charset="0"/>
                <a:ea typeface="Calibri" pitchFamily="34" charset="-122"/>
                <a:cs typeface="Calibri" pitchFamily="34" charset="-120"/>
              </a:rPr>
              <a:t>Day 4</a:t>
            </a:r>
            <a:endParaRPr lang="en-US" sz="1200" dirty="0"/>
          </a:p>
        </p:txBody>
      </p:sp>
      <p:sp>
        <p:nvSpPr>
          <p:cNvPr id="26" name="Text 24"/>
          <p:cNvSpPr/>
          <p:nvPr/>
        </p:nvSpPr>
        <p:spPr>
          <a:xfrm>
            <a:off x="7274052" y="3429000"/>
            <a:ext cx="2240280" cy="914400"/>
          </a:xfrm>
          <a:prstGeom prst="rect">
            <a:avLst/>
          </a:prstGeom>
          <a:noFill/>
          <a:ln/>
        </p:spPr>
        <p:txBody>
          <a:bodyPr wrap="square" lIns="0" tIns="0" rIns="0" bIns="0" rtlCol="0" anchor="ctr"/>
          <a:lstStyle/>
          <a:p>
            <a:pPr algn="ctr" indent="0" marL="0">
              <a:buNone/>
            </a:pPr>
            <a:r>
              <a:rPr lang="en-US" sz="5600" b="1" dirty="0">
                <a:solidFill>
                  <a:srgbClr val="0EA5E9"/>
                </a:solidFill>
                <a:latin typeface="Georgia" pitchFamily="34" charset="0"/>
                <a:ea typeface="Georgia" pitchFamily="34" charset="-122"/>
                <a:cs typeface="Georgia" pitchFamily="34" charset="-120"/>
              </a:rPr>
              <a:t>4</a:t>
            </a:r>
            <a:endParaRPr lang="en-US" sz="5600" dirty="0"/>
          </a:p>
        </p:txBody>
      </p:sp>
      <p:sp>
        <p:nvSpPr>
          <p:cNvPr id="27" name="Text 25"/>
          <p:cNvSpPr/>
          <p:nvPr/>
        </p:nvSpPr>
        <p:spPr>
          <a:xfrm>
            <a:off x="7456932" y="4434840"/>
            <a:ext cx="1874520" cy="457200"/>
          </a:xfrm>
          <a:prstGeom prst="rect">
            <a:avLst/>
          </a:prstGeom>
          <a:noFill/>
          <a:ln/>
        </p:spPr>
        <p:txBody>
          <a:bodyPr wrap="square" lIns="0" tIns="0" rIns="0" bIns="0" rtlCol="0" anchor="ctr"/>
          <a:lstStyle/>
          <a:p>
            <a:pPr algn="ctr" indent="0" marL="0">
              <a:buNone/>
            </a:pPr>
            <a:r>
              <a:rPr lang="en-US" sz="1500" b="1" dirty="0">
                <a:solidFill>
                  <a:srgbClr val="0F172A"/>
                </a:solidFill>
                <a:latin typeface="Georgia" pitchFamily="34" charset="0"/>
                <a:ea typeface="Georgia" pitchFamily="34" charset="-122"/>
                <a:cs typeface="Georgia" pitchFamily="34" charset="-120"/>
              </a:rPr>
              <a:t>Parent Rollout</a:t>
            </a:r>
            <a:endParaRPr lang="en-US" sz="1500" dirty="0"/>
          </a:p>
        </p:txBody>
      </p:sp>
      <p:sp>
        <p:nvSpPr>
          <p:cNvPr id="28" name="Text 26"/>
          <p:cNvSpPr/>
          <p:nvPr/>
        </p:nvSpPr>
        <p:spPr>
          <a:xfrm>
            <a:off x="7456932" y="4892040"/>
            <a:ext cx="1874520" cy="91440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Parents receive their PINs. First notices go out. Walkthrough video shared.</a:t>
            </a:r>
            <a:endParaRPr lang="en-US" sz="1100" dirty="0"/>
          </a:p>
        </p:txBody>
      </p:sp>
      <p:sp>
        <p:nvSpPr>
          <p:cNvPr id="29" name="Shape 27"/>
          <p:cNvSpPr/>
          <p:nvPr/>
        </p:nvSpPr>
        <p:spPr>
          <a:xfrm>
            <a:off x="9587484" y="2743200"/>
            <a:ext cx="2240280" cy="3017520"/>
          </a:xfrm>
          <a:prstGeom prst="rect">
            <a:avLst/>
          </a:prstGeom>
          <a:solidFill>
            <a:srgbClr val="FFFFFF"/>
          </a:solidFill>
          <a:ln w="6350">
            <a:solidFill>
              <a:srgbClr val="E2E8F0"/>
            </a:solidFill>
            <a:prstDash val="solid"/>
          </a:ln>
          <a:effectLst>
            <a:outerShdw sx="100000" sy="100000" kx="0" ky="0" algn="bl" rotWithShape="0" blurRad="127000" dist="38100" dir="5400000">
              <a:srgbClr val="000000">
                <a:alpha val="8000"/>
              </a:srgbClr>
            </a:outerShdw>
          </a:effectLst>
        </p:spPr>
      </p:sp>
      <p:sp>
        <p:nvSpPr>
          <p:cNvPr id="30" name="Shape 28"/>
          <p:cNvSpPr/>
          <p:nvPr/>
        </p:nvSpPr>
        <p:spPr>
          <a:xfrm>
            <a:off x="9587484" y="2743200"/>
            <a:ext cx="2240280" cy="457200"/>
          </a:xfrm>
          <a:prstGeom prst="rect">
            <a:avLst/>
          </a:prstGeom>
          <a:solidFill>
            <a:srgbClr val="1E3A8A"/>
          </a:solidFill>
          <a:ln/>
        </p:spPr>
      </p:sp>
      <p:sp>
        <p:nvSpPr>
          <p:cNvPr id="31" name="Text 29"/>
          <p:cNvSpPr/>
          <p:nvPr/>
        </p:nvSpPr>
        <p:spPr>
          <a:xfrm>
            <a:off x="9587484" y="2743200"/>
            <a:ext cx="2240280" cy="457200"/>
          </a:xfrm>
          <a:prstGeom prst="rect">
            <a:avLst/>
          </a:prstGeom>
          <a:noFill/>
          <a:ln/>
        </p:spPr>
        <p:txBody>
          <a:bodyPr wrap="square" lIns="0" tIns="0" rIns="0" bIns="0" rtlCol="0" anchor="ctr"/>
          <a:lstStyle/>
          <a:p>
            <a:pPr algn="ctr" indent="0" marL="0">
              <a:buNone/>
            </a:pPr>
            <a:r>
              <a:rPr lang="en-US" sz="1200" b="1" spc="400" kern="0" dirty="0">
                <a:solidFill>
                  <a:srgbClr val="FFFFFF"/>
                </a:solidFill>
                <a:latin typeface="Calibri" pitchFamily="34" charset="0"/>
                <a:ea typeface="Calibri" pitchFamily="34" charset="-122"/>
                <a:cs typeface="Calibri" pitchFamily="34" charset="-120"/>
              </a:rPr>
              <a:t>Day 5</a:t>
            </a:r>
            <a:endParaRPr lang="en-US" sz="1200" dirty="0"/>
          </a:p>
        </p:txBody>
      </p:sp>
      <p:sp>
        <p:nvSpPr>
          <p:cNvPr id="32" name="Text 30"/>
          <p:cNvSpPr/>
          <p:nvPr/>
        </p:nvSpPr>
        <p:spPr>
          <a:xfrm>
            <a:off x="9587484" y="3429000"/>
            <a:ext cx="2240280" cy="914400"/>
          </a:xfrm>
          <a:prstGeom prst="rect">
            <a:avLst/>
          </a:prstGeom>
          <a:noFill/>
          <a:ln/>
        </p:spPr>
        <p:txBody>
          <a:bodyPr wrap="square" lIns="0" tIns="0" rIns="0" bIns="0" rtlCol="0" anchor="ctr"/>
          <a:lstStyle/>
          <a:p>
            <a:pPr algn="ctr" indent="0" marL="0">
              <a:buNone/>
            </a:pPr>
            <a:r>
              <a:rPr lang="en-US" sz="5600" b="1" dirty="0">
                <a:solidFill>
                  <a:srgbClr val="0EA5E9"/>
                </a:solidFill>
                <a:latin typeface="Georgia" pitchFamily="34" charset="0"/>
                <a:ea typeface="Georgia" pitchFamily="34" charset="-122"/>
                <a:cs typeface="Georgia" pitchFamily="34" charset="-120"/>
              </a:rPr>
              <a:t>5</a:t>
            </a:r>
            <a:endParaRPr lang="en-US" sz="5600" dirty="0"/>
          </a:p>
        </p:txBody>
      </p:sp>
      <p:sp>
        <p:nvSpPr>
          <p:cNvPr id="33" name="Text 31"/>
          <p:cNvSpPr/>
          <p:nvPr/>
        </p:nvSpPr>
        <p:spPr>
          <a:xfrm>
            <a:off x="9770364" y="4434840"/>
            <a:ext cx="1874520" cy="457200"/>
          </a:xfrm>
          <a:prstGeom prst="rect">
            <a:avLst/>
          </a:prstGeom>
          <a:noFill/>
          <a:ln/>
        </p:spPr>
        <p:txBody>
          <a:bodyPr wrap="square" lIns="0" tIns="0" rIns="0" bIns="0" rtlCol="0" anchor="ctr"/>
          <a:lstStyle/>
          <a:p>
            <a:pPr algn="ctr" indent="0" marL="0">
              <a:buNone/>
            </a:pPr>
            <a:r>
              <a:rPr lang="en-US" sz="1500" b="1" dirty="0">
                <a:solidFill>
                  <a:srgbClr val="0F172A"/>
                </a:solidFill>
                <a:latin typeface="Georgia" pitchFamily="34" charset="0"/>
                <a:ea typeface="Georgia" pitchFamily="34" charset="-122"/>
                <a:cs typeface="Georgia" pitchFamily="34" charset="-120"/>
              </a:rPr>
              <a:t>Full Usage</a:t>
            </a:r>
            <a:endParaRPr lang="en-US" sz="1500" dirty="0"/>
          </a:p>
        </p:txBody>
      </p:sp>
      <p:sp>
        <p:nvSpPr>
          <p:cNvPr id="34" name="Text 32"/>
          <p:cNvSpPr/>
          <p:nvPr/>
        </p:nvSpPr>
        <p:spPr>
          <a:xfrm>
            <a:off x="9770364" y="4892040"/>
            <a:ext cx="1874520" cy="91440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Attendance, homework, notices all flowing. Handover and support touch-base.</a:t>
            </a:r>
            <a:endParaRPr lang="en-US" sz="1100" dirty="0"/>
          </a:p>
        </p:txBody>
      </p:sp>
      <p:sp>
        <p:nvSpPr>
          <p:cNvPr id="35" name="Shape 33"/>
          <p:cNvSpPr/>
          <p:nvPr/>
        </p:nvSpPr>
        <p:spPr>
          <a:xfrm>
            <a:off x="640080" y="5943600"/>
            <a:ext cx="10972800" cy="457200"/>
          </a:xfrm>
          <a:prstGeom prst="rect">
            <a:avLst/>
          </a:prstGeom>
          <a:solidFill>
            <a:srgbClr val="10B981"/>
          </a:solidFill>
          <a:ln/>
        </p:spPr>
      </p:sp>
      <p:sp>
        <p:nvSpPr>
          <p:cNvPr id="36" name="Text 34"/>
          <p:cNvSpPr/>
          <p:nvPr/>
        </p:nvSpPr>
        <p:spPr>
          <a:xfrm>
            <a:off x="640080" y="5943600"/>
            <a:ext cx="10972800" cy="457200"/>
          </a:xfrm>
          <a:prstGeom prst="rect">
            <a:avLst/>
          </a:prstGeom>
          <a:noFill/>
          <a:ln/>
        </p:spPr>
        <p:txBody>
          <a:bodyPr wrap="square" lIns="0" tIns="0" rIns="0" bIns="0" rtlCol="0" anchor="ctr"/>
          <a:lstStyle/>
          <a:p>
            <a:pPr algn="ctr" indent="0" marL="0">
              <a:buNone/>
            </a:pPr>
            <a:r>
              <a:rPr lang="en-US" sz="1300" i="1" dirty="0">
                <a:solidFill>
                  <a:srgbClr val="FFFFFF"/>
                </a:solidFill>
                <a:latin typeface="Georgia" pitchFamily="34" charset="0"/>
                <a:ea typeface="Georgia" pitchFamily="34" charset="-122"/>
                <a:cs typeface="Georgia" pitchFamily="34" charset="-120"/>
              </a:rPr>
              <a:t>We handle the technical setup. Your team handles what they already know best — running your school.</a:t>
            </a:r>
            <a:endParaRPr lang="en-US" sz="1300" dirty="0"/>
          </a:p>
        </p:txBody>
      </p:sp>
      <p:sp>
        <p:nvSpPr>
          <p:cNvPr id="37" name="Shape 35"/>
          <p:cNvSpPr/>
          <p:nvPr/>
        </p:nvSpPr>
        <p:spPr>
          <a:xfrm>
            <a:off x="457200" y="6446520"/>
            <a:ext cx="11247120" cy="0"/>
          </a:xfrm>
          <a:prstGeom prst="line">
            <a:avLst/>
          </a:prstGeom>
          <a:noFill/>
          <a:ln w="9525">
            <a:solidFill>
              <a:srgbClr val="E2E8F0"/>
            </a:solidFill>
            <a:prstDash val="solid"/>
          </a:ln>
        </p:spPr>
      </p:sp>
      <p:sp>
        <p:nvSpPr>
          <p:cNvPr id="38" name="Text 36"/>
          <p:cNvSpPr/>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EduConnect  |  FBT — Future Beyond Technology</a:t>
            </a:r>
            <a:endParaRPr lang="en-US" sz="900" dirty="0"/>
          </a:p>
        </p:txBody>
      </p:sp>
      <p:sp>
        <p:nvSpPr>
          <p:cNvPr id="39" name="Text 37"/>
          <p:cNvSpPr/>
          <p:nvPr/>
        </p:nvSpPr>
        <p:spPr>
          <a:xfrm>
            <a:off x="10972800" y="653796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E3D"/>
        </a:solidFill>
      </p:bgPr>
    </p:bg>
    <p:spTree>
      <p:nvGrpSpPr>
        <p:cNvPr id="1" name=""/>
        <p:cNvGrpSpPr/>
        <p:nvPr/>
      </p:nvGrpSpPr>
      <p:grpSpPr>
        <a:xfrm>
          <a:off x="0" y="0"/>
          <a:ext cx="0" cy="0"/>
          <a:chOff x="0" y="0"/>
          <a:chExt cx="0" cy="0"/>
        </a:xfrm>
      </p:grpSpPr>
      <p:sp>
        <p:nvSpPr>
          <p:cNvPr id="2" name="Shape 0"/>
          <p:cNvSpPr/>
          <p:nvPr/>
        </p:nvSpPr>
        <p:spPr>
          <a:xfrm>
            <a:off x="-2743200" y="-2743200"/>
            <a:ext cx="7315200" cy="7315200"/>
          </a:xfrm>
          <a:prstGeom prst="ellipse">
            <a:avLst/>
          </a:prstGeom>
          <a:solidFill>
            <a:srgbClr val="1E3A8A">
              <a:alpha val="45000"/>
            </a:srgbClr>
          </a:solidFill>
          <a:ln/>
        </p:spPr>
      </p:sp>
      <p:sp>
        <p:nvSpPr>
          <p:cNvPr id="3" name="Shape 1"/>
          <p:cNvSpPr/>
          <p:nvPr/>
        </p:nvSpPr>
        <p:spPr>
          <a:xfrm>
            <a:off x="9144000" y="3657600"/>
            <a:ext cx="5486400" cy="5486400"/>
          </a:xfrm>
          <a:prstGeom prst="ellipse">
            <a:avLst/>
          </a:prstGeom>
          <a:solidFill>
            <a:srgbClr val="0EA5E9">
              <a:alpha val="30000"/>
            </a:srgbClr>
          </a:solidFill>
          <a:ln/>
        </p:spPr>
      </p:sp>
      <p:sp>
        <p:nvSpPr>
          <p:cNvPr id="4" name="Text 2"/>
          <p:cNvSpPr/>
          <p:nvPr/>
        </p:nvSpPr>
        <p:spPr>
          <a:xfrm>
            <a:off x="640080" y="1280160"/>
            <a:ext cx="10972800" cy="365760"/>
          </a:xfrm>
          <a:prstGeom prst="rect">
            <a:avLst/>
          </a:prstGeom>
          <a:noFill/>
          <a:ln/>
        </p:spPr>
        <p:txBody>
          <a:bodyPr wrap="square" lIns="0" tIns="0" rIns="0" bIns="0" rtlCol="0" anchor="ctr"/>
          <a:lstStyle/>
          <a:p>
            <a:pPr indent="0" marL="0">
              <a:buNone/>
            </a:pPr>
            <a:r>
              <a:rPr lang="en-US" sz="1200" b="1" spc="800" kern="0" dirty="0">
                <a:solidFill>
                  <a:srgbClr val="F59E0B"/>
                </a:solidFill>
                <a:latin typeface="Calibri" pitchFamily="34" charset="0"/>
                <a:ea typeface="Calibri" pitchFamily="34" charset="-122"/>
                <a:cs typeface="Calibri" pitchFamily="34" charset="-120"/>
              </a:rPr>
              <a:t>THANK YOU</a:t>
            </a:r>
            <a:endParaRPr lang="en-US" sz="1200" dirty="0"/>
          </a:p>
        </p:txBody>
      </p:sp>
      <p:sp>
        <p:nvSpPr>
          <p:cNvPr id="5" name="Text 3"/>
          <p:cNvSpPr/>
          <p:nvPr/>
        </p:nvSpPr>
        <p:spPr>
          <a:xfrm>
            <a:off x="640080" y="1737360"/>
            <a:ext cx="10972800" cy="14630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Let's build the future of your school — together.</a:t>
            </a:r>
            <a:endParaRPr lang="en-US" sz="4000" dirty="0"/>
          </a:p>
        </p:txBody>
      </p:sp>
      <p:sp>
        <p:nvSpPr>
          <p:cNvPr id="6" name="Shape 4"/>
          <p:cNvSpPr/>
          <p:nvPr/>
        </p:nvSpPr>
        <p:spPr>
          <a:xfrm>
            <a:off x="640080" y="3474720"/>
            <a:ext cx="731520" cy="54864"/>
          </a:xfrm>
          <a:prstGeom prst="rect">
            <a:avLst/>
          </a:prstGeom>
          <a:solidFill>
            <a:srgbClr val="F59E0B"/>
          </a:solidFill>
          <a:ln/>
        </p:spPr>
      </p:sp>
      <p:sp>
        <p:nvSpPr>
          <p:cNvPr id="7" name="Text 5"/>
          <p:cNvSpPr/>
          <p:nvPr/>
        </p:nvSpPr>
        <p:spPr>
          <a:xfrm>
            <a:off x="640080" y="3703320"/>
            <a:ext cx="10972800" cy="91440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We'd love to answer your questions — and if you'd like, walk through any part of the system hands-on right now.</a:t>
            </a:r>
            <a:endParaRPr lang="en-US" sz="1600" dirty="0"/>
          </a:p>
        </p:txBody>
      </p:sp>
      <p:sp>
        <p:nvSpPr>
          <p:cNvPr id="8" name="Shape 6"/>
          <p:cNvSpPr/>
          <p:nvPr/>
        </p:nvSpPr>
        <p:spPr>
          <a:xfrm>
            <a:off x="640080" y="4846320"/>
            <a:ext cx="10972800" cy="1371600"/>
          </a:xfrm>
          <a:prstGeom prst="rect">
            <a:avLst/>
          </a:prstGeom>
          <a:solidFill>
            <a:srgbClr val="FFFFFF"/>
          </a:solidFill>
          <a:ln/>
        </p:spPr>
      </p:sp>
      <p:sp>
        <p:nvSpPr>
          <p:cNvPr id="9" name="Shape 7"/>
          <p:cNvSpPr/>
          <p:nvPr/>
        </p:nvSpPr>
        <p:spPr>
          <a:xfrm>
            <a:off x="640080" y="4846320"/>
            <a:ext cx="73152" cy="1371600"/>
          </a:xfrm>
          <a:prstGeom prst="rect">
            <a:avLst/>
          </a:prstGeom>
          <a:solidFill>
            <a:srgbClr val="F59E0B"/>
          </a:solidFill>
          <a:ln/>
        </p:spPr>
      </p:sp>
      <p:sp>
        <p:nvSpPr>
          <p:cNvPr id="10" name="Text 8"/>
          <p:cNvSpPr/>
          <p:nvPr/>
        </p:nvSpPr>
        <p:spPr>
          <a:xfrm>
            <a:off x="914400" y="4983480"/>
            <a:ext cx="10058400" cy="274320"/>
          </a:xfrm>
          <a:prstGeom prst="rect">
            <a:avLst/>
          </a:prstGeom>
          <a:noFill/>
          <a:ln/>
        </p:spPr>
        <p:txBody>
          <a:bodyPr wrap="square" lIns="0" tIns="0" rIns="0" bIns="0" rtlCol="0" anchor="ctr"/>
          <a:lstStyle/>
          <a:p>
            <a:pPr indent="0" marL="0">
              <a:buNone/>
            </a:pPr>
            <a:r>
              <a:rPr lang="en-US" sz="1100" b="1" spc="500" kern="0" dirty="0">
                <a:solidFill>
                  <a:srgbClr val="1E3A8A"/>
                </a:solidFill>
                <a:latin typeface="Calibri" pitchFamily="34" charset="0"/>
                <a:ea typeface="Calibri" pitchFamily="34" charset="-122"/>
                <a:cs typeface="Calibri" pitchFamily="34" charset="-120"/>
              </a:rPr>
              <a:t>NEXT STEPS</a:t>
            </a:r>
            <a:endParaRPr lang="en-US" sz="1100" dirty="0"/>
          </a:p>
        </p:txBody>
      </p:sp>
      <p:sp>
        <p:nvSpPr>
          <p:cNvPr id="11" name="Text 9"/>
          <p:cNvSpPr/>
          <p:nvPr/>
        </p:nvSpPr>
        <p:spPr>
          <a:xfrm>
            <a:off x="914400" y="5285232"/>
            <a:ext cx="10515600" cy="960120"/>
          </a:xfrm>
          <a:prstGeom prst="rect">
            <a:avLst/>
          </a:prstGeom>
          <a:noFill/>
          <a:ln/>
        </p:spPr>
        <p:txBody>
          <a:bodyPr wrap="square" lIns="0" tIns="0" rIns="0" bIns="0" rtlCol="0" anchor="ctr"/>
          <a:lstStyle/>
          <a:p>
            <a:pPr marL="342900" indent="-342900">
              <a:spcAft>
                <a:spcPts val="300"/>
              </a:spcAft>
              <a:buSzPct val="100000"/>
              <a:buChar char="•"/>
            </a:pPr>
            <a:r>
              <a:rPr lang="en-US" sz="1200" dirty="0">
                <a:solidFill>
                  <a:srgbClr val="0F172A"/>
                </a:solidFill>
                <a:latin typeface="Calibri" pitchFamily="34" charset="0"/>
                <a:ea typeface="Calibri" pitchFamily="34" charset="-122"/>
                <a:cs typeface="Calibri" pitchFamily="34" charset="-120"/>
              </a:rPr>
              <a:t>Live demo — we walk through the admin, teacher, and parent views with real data</a:t>
            </a:r>
            <a:endParaRPr lang="en-US" sz="1200" dirty="0"/>
          </a:p>
          <a:p>
            <a:pPr marL="342900" indent="-342900">
              <a:spcAft>
                <a:spcPts val="300"/>
              </a:spcAft>
              <a:buSzPct val="100000"/>
              <a:buChar char="•"/>
            </a:pPr>
            <a:r>
              <a:rPr lang="en-US" sz="1200" dirty="0">
                <a:solidFill>
                  <a:srgbClr val="0F172A"/>
                </a:solidFill>
                <a:latin typeface="Calibri" pitchFamily="34" charset="0"/>
                <a:ea typeface="Calibri" pitchFamily="34" charset="-122"/>
                <a:cs typeface="Calibri" pitchFamily="34" charset="-120"/>
              </a:rPr>
              <a:t>Pilot proposal — a two-week guided trial with one class</a:t>
            </a:r>
            <a:endParaRPr lang="en-US" sz="1200" dirty="0"/>
          </a:p>
          <a:p>
            <a:pPr marL="342900" indent="-342900">
              <a:spcAft>
                <a:spcPts val="300"/>
              </a:spcAft>
              <a:buSzPct val="100000"/>
              <a:buChar char="•"/>
            </a:pPr>
            <a:r>
              <a:rPr lang="en-US" sz="1200" dirty="0">
                <a:solidFill>
                  <a:srgbClr val="0F172A"/>
                </a:solidFill>
                <a:latin typeface="Calibri" pitchFamily="34" charset="0"/>
                <a:ea typeface="Calibri" pitchFamily="34" charset="-122"/>
                <a:cs typeface="Calibri" pitchFamily="34" charset="-120"/>
              </a:rPr>
              <a:t>Custom scoping — we listen to what your school specifically needs</a:t>
            </a:r>
            <a:endParaRPr lang="en-US" sz="1200" dirty="0"/>
          </a:p>
        </p:txBody>
      </p:sp>
      <p:sp>
        <p:nvSpPr>
          <p:cNvPr id="12" name="Text 10"/>
          <p:cNvSpPr/>
          <p:nvPr/>
        </p:nvSpPr>
        <p:spPr>
          <a:xfrm>
            <a:off x="640080" y="6355080"/>
            <a:ext cx="109728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FBT — Future Beyond Technology    |    April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FBT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EduConnect — Client Presentation</dc:title>
  <dc:subject>PptxGenJS Presentation</dc:subject>
  <dc:creator>FBT — Future Beyond Technology</dc:creator>
  <cp:lastModifiedBy>FBT — Future Beyond Technology</cp:lastModifiedBy>
  <cp:revision>1</cp:revision>
  <dcterms:created xsi:type="dcterms:W3CDTF">2026-04-17T04:29:53Z</dcterms:created>
  <dcterms:modified xsi:type="dcterms:W3CDTF">2026-04-17T04:29:53Z</dcterms:modified>
</cp:coreProperties>
</file>